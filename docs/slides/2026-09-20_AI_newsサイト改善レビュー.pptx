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499c3341474660" /><Relationship Type="http://schemas.openxmlformats.org/officeDocument/2006/relationships/extended-properties" Target="/docProps/app.xml" Id="Rc4943410d2b04795" /><Relationship Type="http://schemas.openxmlformats.org/officeDocument/2006/relationships/officeDocument" Target="/ppt/presentation.xml" Id="Rc9f4ad9c9f6f44a1" /></Relationships>
</file>

<file path=ppt/presentation.xml><?xml version="1.0" encoding="utf-8"?>
<p:presentation xmlns:p="http://schemas.openxmlformats.org/presentationml/2006/main">
  <p:sldMasterIdLst>
    <p:sldMasterId xmlns:r="http://schemas.openxmlformats.org/officeDocument/2006/relationships" id="2147483648" r:id="Rbd229416c8af4ed9"/>
  </p:sldMasterIdLst>
  <p:notesMasterIdLst>
    <p:notesMasterId xmlns:r="http://schemas.openxmlformats.org/officeDocument/2006/relationships" r:id="R840941f359a5467d"/>
  </p:notesMasterIdLst>
  <p:sldIdLst>
    <p:sldId xmlns:r="http://schemas.openxmlformats.org/officeDocument/2006/relationships" id="256" r:id="R87c41f4213b24dfa"/>
    <p:sldId xmlns:r="http://schemas.openxmlformats.org/officeDocument/2006/relationships" id="257" r:id="R74337ff3ddfe4334"/>
    <p:sldId xmlns:r="http://schemas.openxmlformats.org/officeDocument/2006/relationships" id="258" r:id="Rde74f25b6bdc4b18"/>
    <p:sldId xmlns:r="http://schemas.openxmlformats.org/officeDocument/2006/relationships" id="259" r:id="Rc73592553169497b"/>
    <p:sldId xmlns:r="http://schemas.openxmlformats.org/officeDocument/2006/relationships" id="260" r:id="R29f7c011049a4f0c"/>
    <p:sldId xmlns:r="http://schemas.openxmlformats.org/officeDocument/2006/relationships" id="261" r:id="Rf58a534c270342e0"/>
    <p:sldId xmlns:r="http://schemas.openxmlformats.org/officeDocument/2006/relationships" id="262" r:id="Rc4bd862ac4b948f8"/>
    <p:sldId xmlns:r="http://schemas.openxmlformats.org/officeDocument/2006/relationships" id="263" r:id="Rea4b00b501584218"/>
    <p:sldId xmlns:r="http://schemas.openxmlformats.org/officeDocument/2006/relationships" id="264" r:id="R75538f059d7f41af"/>
    <p:sldId xmlns:r="http://schemas.openxmlformats.org/officeDocument/2006/relationships" id="265" r:id="R376a56e0341b4d27"/>
    <p:sldId xmlns:r="http://schemas.openxmlformats.org/officeDocument/2006/relationships" id="266" r:id="Rb34cf59a9deb4bfb"/>
    <p:sldId xmlns:r="http://schemas.openxmlformats.org/officeDocument/2006/relationships" id="267" r:id="Rc9ee29d465194150"/>
    <p:sldId xmlns:r="http://schemas.openxmlformats.org/officeDocument/2006/relationships" id="268" r:id="R2abdb2fc58a04d5f"/>
    <p:sldId xmlns:r="http://schemas.openxmlformats.org/officeDocument/2006/relationships" id="269" r:id="R2e9961891bd041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151642e30f4028" /><Relationship Type="http://schemas.openxmlformats.org/officeDocument/2006/relationships/slideMaster" Target="/ppt/slideMasters/slideMaster1.xml" Id="Rbd229416c8af4ed9" /><Relationship Type="http://schemas.openxmlformats.org/officeDocument/2006/relationships/notesMaster" Target="/ppt/notesMasters/notesMaster1.xml" Id="R840941f359a5467d" /><Relationship Type="http://schemas.openxmlformats.org/officeDocument/2006/relationships/presProps" Target="/ppt/presProps.xml" Id="Rc236edb07840494f" /><Relationship Type="http://schemas.openxmlformats.org/officeDocument/2006/relationships/tableStyles" Target="/ppt/tableStyles.xml" Id="R6206b2e446a54212" /><Relationship Type="http://schemas.openxmlformats.org/officeDocument/2006/relationships/slide" Target="/ppt/slides/slide1.xml" Id="R87c41f4213b24dfa" /><Relationship Type="http://schemas.openxmlformats.org/officeDocument/2006/relationships/slide" Target="/ppt/slides/slide2.xml" Id="R74337ff3ddfe4334" /><Relationship Type="http://schemas.openxmlformats.org/officeDocument/2006/relationships/slide" Target="/ppt/slides/slide3.xml" Id="Rde74f25b6bdc4b18" /><Relationship Type="http://schemas.openxmlformats.org/officeDocument/2006/relationships/slide" Target="/ppt/slides/slide4.xml" Id="Rc73592553169497b" /><Relationship Type="http://schemas.openxmlformats.org/officeDocument/2006/relationships/slide" Target="/ppt/slides/slide5.xml" Id="R29f7c011049a4f0c" /><Relationship Type="http://schemas.openxmlformats.org/officeDocument/2006/relationships/slide" Target="/ppt/slides/slide6.xml" Id="Rf58a534c270342e0" /><Relationship Type="http://schemas.openxmlformats.org/officeDocument/2006/relationships/slide" Target="/ppt/slides/slide7.xml" Id="Rc4bd862ac4b948f8" /><Relationship Type="http://schemas.openxmlformats.org/officeDocument/2006/relationships/slide" Target="/ppt/slides/slide8.xml" Id="Rea4b00b501584218" /><Relationship Type="http://schemas.openxmlformats.org/officeDocument/2006/relationships/slide" Target="/ppt/slides/slide9.xml" Id="R75538f059d7f41af" /><Relationship Type="http://schemas.openxmlformats.org/officeDocument/2006/relationships/slide" Target="/ppt/slides/slide10.xml" Id="R376a56e0341b4d27" /><Relationship Type="http://schemas.openxmlformats.org/officeDocument/2006/relationships/slide" Target="/ppt/slides/slide11.xml" Id="Rb34cf59a9deb4bfb" /><Relationship Type="http://schemas.openxmlformats.org/officeDocument/2006/relationships/slide" Target="/ppt/slides/slide12.xml" Id="Rc9ee29d465194150" /><Relationship Type="http://schemas.openxmlformats.org/officeDocument/2006/relationships/slide" Target="/ppt/slides/slide13.xml" Id="R2abdb2fc58a04d5f" /><Relationship Type="http://schemas.openxmlformats.org/officeDocument/2006/relationships/slide" Target="/ppt/slides/slide14.xml" Id="R2e9961891bd041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e26e17eb534b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9c6ee725ae403e" /><Relationship Type="http://schemas.openxmlformats.org/officeDocument/2006/relationships/notesMaster" Target="/ppt/notesMasters/notesMaster1.xml" Id="R0e8f0882d3ff43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36ec8127444df" /><Relationship Type="http://schemas.openxmlformats.org/officeDocument/2006/relationships/notesMaster" Target="/ppt/notesMasters/notesMaster1.xml" Id="R0e2032a40cff4b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4c33fb89fb459c" /><Relationship Type="http://schemas.openxmlformats.org/officeDocument/2006/relationships/notesMaster" Target="/ppt/notesMasters/notesMaster1.xml" Id="R8874386021b649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c312f2a5854980" /><Relationship Type="http://schemas.openxmlformats.org/officeDocument/2006/relationships/notesMaster" Target="/ppt/notesMasters/notesMaster1.xml" Id="R1f6ec6f999544b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494d80f86466a" /><Relationship Type="http://schemas.openxmlformats.org/officeDocument/2006/relationships/notesMaster" Target="/ppt/notesMasters/notesMaster1.xml" Id="R4e93ea9108c44a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8c13701a7b4bc1" /><Relationship Type="http://schemas.openxmlformats.org/officeDocument/2006/relationships/notesMaster" Target="/ppt/notesMasters/notesMaster1.xml" Id="Reffc5364ffc041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bb43d74b864153" /><Relationship Type="http://schemas.openxmlformats.org/officeDocument/2006/relationships/notesMaster" Target="/ppt/notesMasters/notesMaster1.xml" Id="R3366f03b47ee47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dc54c3ae7d47e4" /><Relationship Type="http://schemas.openxmlformats.org/officeDocument/2006/relationships/notesMaster" Target="/ppt/notesMasters/notesMaster1.xml" Id="R4d8ed982885140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1baef4dfc94987" /><Relationship Type="http://schemas.openxmlformats.org/officeDocument/2006/relationships/notesMaster" Target="/ppt/notesMasters/notesMaster1.xml" Id="Reebd1d95190a46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0e1386d6724639" /><Relationship Type="http://schemas.openxmlformats.org/officeDocument/2006/relationships/notesMaster" Target="/ppt/notesMasters/notesMaster1.xml" Id="R350902a0246747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85ae16c58a4614" /><Relationship Type="http://schemas.openxmlformats.org/officeDocument/2006/relationships/notesMaster" Target="/ppt/notesMasters/notesMaster1.xml" Id="Rd6896738b8bb45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03f5423fe04e49" /><Relationship Type="http://schemas.openxmlformats.org/officeDocument/2006/relationships/notesMaster" Target="/ppt/notesMasters/notesMaster1.xml" Id="R68dccdb7cd164c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2edac9a4794a2f" /><Relationship Type="http://schemas.openxmlformats.org/officeDocument/2006/relationships/notesMaster" Target="/ppt/notesMasters/notesMaster1.xml" Id="R213071f91ee14c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b4cbd2a7ba4cb0" /><Relationship Type="http://schemas.openxmlformats.org/officeDocument/2006/relationships/notesMaster" Target="/ppt/notesMasters/notesMaster1.xml" Id="Ree633aba53e74c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出典：この会話の2026年9月18日のサイト評価。評価対象：https://ai-news-sandy-seven.vercel.app/ および history/ 配下の実装。作成日：2026年9月20日。数値・指摘は評価時点の記録であり、9月20日の再調査結果ではありません。記事内容の真偽は全件検証していません。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78bfbca07c46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a7ac52a1e14ec9" /><Relationship Type="http://schemas.openxmlformats.org/officeDocument/2006/relationships/slideLayout" Target="/ppt/slideLayouts/slideLayout1.xml" Id="Ra78281cb159e4b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8281cb159e4b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1b6a81a4304fb4" /><Relationship Type="http://schemas.openxmlformats.org/officeDocument/2006/relationships/notesSlide" Target="/ppt/notesSlides/notesSlide1.xml" Id="R57716834117043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b39e4fd8d34b43" /><Relationship Type="http://schemas.openxmlformats.org/officeDocument/2006/relationships/notesSlide" Target="/ppt/notesSlides/notesSlide2.xml" Id="Rcece6d4bd4ce4d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168890ae90471b" /><Relationship Type="http://schemas.openxmlformats.org/officeDocument/2006/relationships/notesSlide" Target="/ppt/notesSlides/notesSlide3.xml" Id="Recb2d7200f314e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0834d5369546aa" /><Relationship Type="http://schemas.openxmlformats.org/officeDocument/2006/relationships/notesSlide" Target="/ppt/notesSlides/notesSlide4.xml" Id="R93e31987c7a540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766c96308e41d4" /><Relationship Type="http://schemas.openxmlformats.org/officeDocument/2006/relationships/notesSlide" Target="/ppt/notesSlides/notesSlide5.xml" Id="R16d6a3fb2daa40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0e9bf1be1f4152" /><Relationship Type="http://schemas.openxmlformats.org/officeDocument/2006/relationships/notesSlide" Target="/ppt/notesSlides/notesSlide6.xml" Id="R3485e537148341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ef53dff3c9455e" /><Relationship Type="http://schemas.openxmlformats.org/officeDocument/2006/relationships/notesSlide" Target="/ppt/notesSlides/notesSlide7.xml" Id="R03248a6019e144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07b4a8f89346fd" /><Relationship Type="http://schemas.openxmlformats.org/officeDocument/2006/relationships/notesSlide" Target="/ppt/notesSlides/notesSlide8.xml" Id="Rb4f6f3301ce648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5e1bd5913d436f" /><Relationship Type="http://schemas.openxmlformats.org/officeDocument/2006/relationships/notesSlide" Target="/ppt/notesSlides/notesSlide9.xml" Id="R9693d93d895f48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40339f23214d33" /><Relationship Type="http://schemas.openxmlformats.org/officeDocument/2006/relationships/notesSlide" Target="/ppt/notesSlides/notesSlide10.xml" Id="Rc5d4bbdb55b64f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344f75bc224543" /><Relationship Type="http://schemas.openxmlformats.org/officeDocument/2006/relationships/notesSlide" Target="/ppt/notesSlides/notesSlide11.xml" Id="R87ca559ee6a041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f7749e70f2457f" /><Relationship Type="http://schemas.openxmlformats.org/officeDocument/2006/relationships/notesSlide" Target="/ppt/notesSlides/notesSlide12.xml" Id="R532614d7153d43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c3fc68abdb443a" /><Relationship Type="http://schemas.openxmlformats.org/officeDocument/2006/relationships/notesSlide" Target="/ppt/notesSlides/notesSlide13.xml" Id="R24cbec574ca440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8391d300e34253" /><Relationship Type="http://schemas.openxmlformats.org/officeDocument/2006/relationships/notesSlide" Target="/ppt/notesSlides/notesSlide14.xml" Id="R26bf76ae351c4e5d" /></Relationships>
</file>

<file path=ppt/slides/slide1.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22D82B-22AE-4E23-8EB6-1AF32A7B241E}"/>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AI_news サイト改善レビュー</a:t>
            </a:r>
          </a:p>
        </p:txBody>
      </p:sp>
      <p:sp>
        <p:nvSpPr>
          <p:cNvPr id="2" name="">
            <a:extLst xmlns:a="http://schemas.openxmlformats.org/drawingml/2006/main">
              <a:ext uri="{FF2B5EF4-FFF2-40B4-BE49-F238E27FC236}">
                <a16:creationId xmlns:a16="http://schemas.microsoft.com/office/drawing/2014/main" id="{6A0417AE-D7EE-495E-B6DD-8AEC10C9D84A}"/>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01</a:t>
            </a:r>
          </a:p>
        </p:txBody>
      </p:sp>
      <p:sp>
        <p:nvSpPr>
          <p:cNvPr id="3" name="">
            <a:extLst xmlns:a="http://schemas.openxmlformats.org/drawingml/2006/main">
              <a:ext uri="{FF2B5EF4-FFF2-40B4-BE49-F238E27FC236}">
                <a16:creationId xmlns:a16="http://schemas.microsoft.com/office/drawing/2014/main" id="{99F722AE-90CD-4033-84EB-A05CDC96095D}"/>
              </a:ext>
            </a:extLst>
          </p:cNvPr>
          <p:cNvSpPr>
            <a:spLocks xmlns:a="http://schemas.openxmlformats.org/drawingml/2006/main" noGrp="1"/>
          </p:cNvSpPr>
          <p:nvPr/>
        </p:nvSpPr>
        <p:spPr>
          <a:xfrm xmlns:a="http://schemas.openxmlformats.org/drawingml/2006/main">
            <a:off x="628650" y="23336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34E4BE"/>
                </a:solidFill>
                <a:latin typeface="Hiragino Sans"/>
                <a:ea typeface="Hiragino Sans"/>
                <a:cs typeface="Hiragino Sans"/>
              </a:defRPr>
            </a:pPr>
            <a:r>
              <a:rPr sz="4200" b="1">
                <a:solidFill>
                  <a:srgbClr val="34E4BE"/>
                </a:solidFill>
                <a:latin typeface="Hiragino Sans"/>
                <a:ea typeface="Hiragino Sans"/>
                <a:cs typeface="Hiragino Sans"/>
              </a:rPr>
              <a:t>強みを生かす改善の優先順位</a:t>
            </a:r>
          </a:p>
        </p:txBody>
      </p:sp>
      <p:sp>
        <p:nvSpPr>
          <p:cNvPr id="4" name="">
            <a:extLst xmlns:a="http://schemas.openxmlformats.org/drawingml/2006/main">
              <a:ext uri="{FF2B5EF4-FFF2-40B4-BE49-F238E27FC236}">
                <a16:creationId xmlns:a16="http://schemas.microsoft.com/office/drawing/2014/main" id="{20B95AE2-88BF-43D4-8B74-28F0821F2E8F}"/>
              </a:ext>
            </a:extLst>
          </p:cNvPr>
          <p:cNvSpPr>
            <a:spLocks xmlns:a="http://schemas.openxmlformats.org/drawingml/2006/main" noGrp="1"/>
          </p:cNvSpPr>
          <p:nvPr/>
        </p:nvSpPr>
        <p:spPr>
          <a:xfrm xmlns:a="http://schemas.openxmlformats.org/drawingml/2006/main">
            <a:off x="647700" y="3733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0F4FA"/>
                </a:solidFill>
                <a:latin typeface="Hiragino Sans"/>
                <a:ea typeface="Hiragino Sans"/>
                <a:cs typeface="Hiragino Sans"/>
              </a:defRPr>
            </a:pPr>
            <a:r>
              <a:rPr sz="2325" b="0">
                <a:solidFill>
                  <a:srgbClr val="F0F4FA"/>
                </a:solidFill>
                <a:latin typeface="Hiragino Sans"/>
                <a:ea typeface="Hiragino Sans"/>
                <a:cs typeface="Hiragino Sans"/>
              </a:rPr>
              <a:t>良いところ・課題・具体案・着手順</a:t>
            </a:r>
          </a:p>
        </p:txBody>
      </p:sp>
      <p:sp>
        <p:nvSpPr>
          <p:cNvPr id="5" name="">
            <a:extLst xmlns:a="http://schemas.openxmlformats.org/drawingml/2006/main">
              <a:ext uri="{FF2B5EF4-FFF2-40B4-BE49-F238E27FC236}">
                <a16:creationId xmlns:a16="http://schemas.microsoft.com/office/drawing/2014/main" id="{E8E80691-0CD1-47DF-AD95-E5697CA62D34}"/>
              </a:ext>
            </a:extLst>
          </p:cNvPr>
          <p:cNvSpPr>
            <a:spLocks xmlns:a="http://schemas.openxmlformats.org/drawingml/2006/main" noGrp="1"/>
          </p:cNvSpPr>
          <p:nvPr/>
        </p:nvSpPr>
        <p:spPr>
          <a:xfrm xmlns:a="http://schemas.openxmlformats.org/drawingml/2006/main">
            <a:off x="647700" y="52387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6C2D5"/>
                </a:solidFill>
                <a:latin typeface="Hiragino Sans"/>
                <a:ea typeface="Hiragino Sans"/>
                <a:cs typeface="Hiragino Sans"/>
              </a:defRPr>
            </a:pPr>
            <a:r>
              <a:rPr sz="1575" b="0">
                <a:solidFill>
                  <a:srgbClr val="B6C2D5"/>
                </a:solidFill>
                <a:latin typeface="Hiragino Sans"/>
                <a:ea typeface="Hiragino Sans"/>
                <a:cs typeface="Hiragino Sans"/>
              </a:rPr>
              <a:t>評価日 2026年9月18日　／　資料作成 2026年9月20日</a:t>
            </a:r>
          </a:p>
        </p:txBody>
      </p:sp>
      <p:sp>
        <p:nvSpPr>
          <p:cNvPr id="6" name="">
            <a:extLst xmlns:a="http://schemas.openxmlformats.org/drawingml/2006/main">
              <a:ext uri="{FF2B5EF4-FFF2-40B4-BE49-F238E27FC236}">
                <a16:creationId xmlns:a16="http://schemas.microsoft.com/office/drawing/2014/main" id="{28D414D9-E2AA-44C7-B728-915B3E59CBD0}"/>
              </a:ext>
            </a:extLst>
          </p:cNvPr>
          <p:cNvSpPr>
            <a:spLocks xmlns:a="http://schemas.openxmlformats.org/drawingml/2006/main" noGrp="1"/>
          </p:cNvSpPr>
          <p:nvPr/>
        </p:nvSpPr>
        <p:spPr>
          <a:xfrm xmlns:a="http://schemas.openxmlformats.org/drawingml/2006/main">
            <a:off x="647700" y="56673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6C2D5"/>
                </a:solidFill>
                <a:latin typeface="Hiragino Sans"/>
                <a:ea typeface="Hiragino Sans"/>
                <a:cs typeface="Hiragino Sans"/>
              </a:defRPr>
            </a:pPr>
            <a:r>
              <a:rPr sz="1575" b="0">
                <a:solidFill>
                  <a:srgbClr val="B6C2D5"/>
                </a:solidFill>
                <a:latin typeface="Hiragino Sans"/>
                <a:ea typeface="Hiragino Sans"/>
                <a:cs typeface="Hiragino Sans"/>
              </a:rPr>
              <a:t>対象：公開サイト全6ページと関連実装・運用資料</a:t>
            </a:r>
          </a:p>
        </p:txBody>
      </p:sp>
    </p:spTree>
    <p:extLst>
      <p:ext uri="{BB962C8B-B14F-4D97-AF65-F5344CB8AC3E}">
        <p14:creationId xmlns:p14="http://schemas.microsoft.com/office/powerpoint/2010/main" val="2091617908"/>
      </p:ext>
    </p:extLst>
  </p:cSld>
</p:sld>
</file>

<file path=ppt/slides/slide2.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283A20-D567-4A99-81AF-66FF55D56807}"/>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ニュースを背景から理解できる構成</a:t>
            </a:r>
          </a:p>
        </p:txBody>
      </p:sp>
      <p:sp>
        <p:nvSpPr>
          <p:cNvPr id="2" name="">
            <a:extLst xmlns:a="http://schemas.openxmlformats.org/drawingml/2006/main">
              <a:ext uri="{FF2B5EF4-FFF2-40B4-BE49-F238E27FC236}">
                <a16:creationId xmlns:a16="http://schemas.microsoft.com/office/drawing/2014/main" id="{A61D65A4-9C37-44F6-BF2E-7525F1F444C4}"/>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歴史、日々の出来事、業界の潮流、用語の意味を一つのサイトで学べます。</a:t>
            </a:r>
          </a:p>
        </p:txBody>
      </p:sp>
      <p:sp>
        <p:nvSpPr>
          <p:cNvPr id="3" name="">
            <a:extLst xmlns:a="http://schemas.openxmlformats.org/drawingml/2006/main">
              <a:ext uri="{FF2B5EF4-FFF2-40B4-BE49-F238E27FC236}">
                <a16:creationId xmlns:a16="http://schemas.microsoft.com/office/drawing/2014/main" id="{BEE1AF88-E00B-491C-A7F0-AB281E8E961C}"/>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02</a:t>
            </a:r>
          </a:p>
        </p:txBody>
      </p:sp>
      <p:sp>
        <p:nvSpPr>
          <p:cNvPr id="4" name="">
            <a:extLst xmlns:a="http://schemas.openxmlformats.org/drawingml/2006/main">
              <a:ext uri="{FF2B5EF4-FFF2-40B4-BE49-F238E27FC236}">
                <a16:creationId xmlns:a16="http://schemas.microsoft.com/office/drawing/2014/main" id="{60EC0577-6EF6-4B65-993D-79AF8ABDCC27}"/>
              </a:ext>
            </a:extLst>
          </p:cNvPr>
          <p:cNvSpPr>
            <a:spLocks xmlns:a="http://schemas.openxmlformats.org/drawingml/2006/main" noGrp="1"/>
          </p:cNvSpPr>
          <p:nvPr/>
        </p:nvSpPr>
        <p:spPr>
          <a:xfrm xmlns:a="http://schemas.openxmlformats.org/drawingml/2006/main">
            <a:off x="628650" y="2305050"/>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E4BE"/>
                </a:solidFill>
                <a:latin typeface="Hiragino Sans"/>
                <a:ea typeface="Hiragino Sans"/>
                <a:cs typeface="Hiragino Sans"/>
              </a:defRPr>
            </a:pPr>
            <a:r>
              <a:rPr sz="5700" b="1">
                <a:solidFill>
                  <a:srgbClr val="34E4BE"/>
                </a:solidFill>
                <a:latin typeface="Hiragino Sans"/>
                <a:ea typeface="Hiragino Sans"/>
                <a:cs typeface="Hiragino Sans"/>
              </a:rPr>
              <a:t>72</a:t>
            </a:r>
          </a:p>
        </p:txBody>
      </p:sp>
      <p:sp>
        <p:nvSpPr>
          <p:cNvPr id="5" name="">
            <a:extLst xmlns:a="http://schemas.openxmlformats.org/drawingml/2006/main">
              <a:ext uri="{FF2B5EF4-FFF2-40B4-BE49-F238E27FC236}">
                <a16:creationId xmlns:a16="http://schemas.microsoft.com/office/drawing/2014/main" id="{A75DCC78-34AA-4E5D-9849-E14E7E07D4C9}"/>
              </a:ext>
            </a:extLst>
          </p:cNvPr>
          <p:cNvSpPr>
            <a:spLocks xmlns:a="http://schemas.openxmlformats.org/drawingml/2006/main" noGrp="1"/>
          </p:cNvSpPr>
          <p:nvPr/>
        </p:nvSpPr>
        <p:spPr>
          <a:xfrm xmlns:a="http://schemas.openxmlformats.org/drawingml/2006/main">
            <a:off x="628650" y="3476625"/>
            <a:ext cx="255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A"/>
                </a:solidFill>
                <a:latin typeface="Hiragino Sans"/>
                <a:ea typeface="Hiragino Sans"/>
                <a:cs typeface="Hiragino Sans"/>
              </a:defRPr>
            </a:pPr>
            <a:r>
              <a:rPr sz="1950" b="0">
                <a:solidFill>
                  <a:srgbClr val="F0F4FA"/>
                </a:solidFill>
                <a:latin typeface="Hiragino Sans"/>
                <a:ea typeface="Hiragino Sans"/>
                <a:cs typeface="Hiragino Sans"/>
              </a:rPr>
              <a:t>日分の日次記録</a:t>
            </a:r>
          </a:p>
        </p:txBody>
      </p:sp>
      <p:sp>
        <p:nvSpPr>
          <p:cNvPr id="6" name="">
            <a:extLst xmlns:a="http://schemas.openxmlformats.org/drawingml/2006/main">
              <a:ext uri="{FF2B5EF4-FFF2-40B4-BE49-F238E27FC236}">
                <a16:creationId xmlns:a16="http://schemas.microsoft.com/office/drawing/2014/main" id="{E206CFE7-2EFE-4984-B10E-29B19B77BF3C}"/>
              </a:ext>
            </a:extLst>
          </p:cNvPr>
          <p:cNvSpPr>
            <a:spLocks xmlns:a="http://schemas.openxmlformats.org/drawingml/2006/main" noGrp="1"/>
          </p:cNvSpPr>
          <p:nvPr/>
        </p:nvSpPr>
        <p:spPr>
          <a:xfrm xmlns:a="http://schemas.openxmlformats.org/drawingml/2006/main">
            <a:off x="3467100" y="2305050"/>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E4BE"/>
                </a:solidFill>
                <a:latin typeface="Hiragino Sans"/>
                <a:ea typeface="Hiragino Sans"/>
                <a:cs typeface="Hiragino Sans"/>
              </a:defRPr>
            </a:pPr>
            <a:r>
              <a:rPr sz="5700" b="1">
                <a:solidFill>
                  <a:srgbClr val="34E4BE"/>
                </a:solidFill>
                <a:latin typeface="Hiragino Sans"/>
                <a:ea typeface="Hiragino Sans"/>
                <a:cs typeface="Hiragino Sans"/>
              </a:rPr>
              <a:t>425</a:t>
            </a:r>
          </a:p>
        </p:txBody>
      </p:sp>
      <p:sp>
        <p:nvSpPr>
          <p:cNvPr id="7" name="">
            <a:extLst xmlns:a="http://schemas.openxmlformats.org/drawingml/2006/main">
              <a:ext uri="{FF2B5EF4-FFF2-40B4-BE49-F238E27FC236}">
                <a16:creationId xmlns:a16="http://schemas.microsoft.com/office/drawing/2014/main" id="{52324B1B-DB95-405B-ABDD-7768CF69E55E}"/>
              </a:ext>
            </a:extLst>
          </p:cNvPr>
          <p:cNvSpPr>
            <a:spLocks xmlns:a="http://schemas.openxmlformats.org/drawingml/2006/main" noGrp="1"/>
          </p:cNvSpPr>
          <p:nvPr/>
        </p:nvSpPr>
        <p:spPr>
          <a:xfrm xmlns:a="http://schemas.openxmlformats.org/drawingml/2006/main">
            <a:off x="3467100" y="3476625"/>
            <a:ext cx="255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A"/>
                </a:solidFill>
                <a:latin typeface="Hiragino Sans"/>
                <a:ea typeface="Hiragino Sans"/>
                <a:cs typeface="Hiragino Sans"/>
              </a:defRPr>
            </a:pPr>
            <a:r>
              <a:rPr sz="1950" b="0">
                <a:solidFill>
                  <a:srgbClr val="F0F4FA"/>
                </a:solidFill>
                <a:latin typeface="Hiragino Sans"/>
                <a:ea typeface="Hiragino Sans"/>
                <a:cs typeface="Hiragino Sans"/>
              </a:rPr>
              <a:t>件のニュース</a:t>
            </a:r>
          </a:p>
        </p:txBody>
      </p:sp>
      <p:sp>
        <p:nvSpPr>
          <p:cNvPr id="8" name="">
            <a:extLst xmlns:a="http://schemas.openxmlformats.org/drawingml/2006/main">
              <a:ext uri="{FF2B5EF4-FFF2-40B4-BE49-F238E27FC236}">
                <a16:creationId xmlns:a16="http://schemas.microsoft.com/office/drawing/2014/main" id="{19157796-61F0-4484-92C1-F21198C1F56E}"/>
              </a:ext>
            </a:extLst>
          </p:cNvPr>
          <p:cNvSpPr>
            <a:spLocks xmlns:a="http://schemas.openxmlformats.org/drawingml/2006/main" noGrp="1"/>
          </p:cNvSpPr>
          <p:nvPr/>
        </p:nvSpPr>
        <p:spPr>
          <a:xfrm xmlns:a="http://schemas.openxmlformats.org/drawingml/2006/main">
            <a:off x="6305550" y="2305050"/>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E4BE"/>
                </a:solidFill>
                <a:latin typeface="Hiragino Sans"/>
                <a:ea typeface="Hiragino Sans"/>
                <a:cs typeface="Hiragino Sans"/>
              </a:defRPr>
            </a:pPr>
            <a:r>
              <a:rPr sz="5700" b="1">
                <a:solidFill>
                  <a:srgbClr val="34E4BE"/>
                </a:solidFill>
                <a:latin typeface="Hiragino Sans"/>
                <a:ea typeface="Hiragino Sans"/>
                <a:cs typeface="Hiragino Sans"/>
              </a:rPr>
              <a:t>25</a:t>
            </a:r>
          </a:p>
        </p:txBody>
      </p:sp>
      <p:sp>
        <p:nvSpPr>
          <p:cNvPr id="9" name="">
            <a:extLst xmlns:a="http://schemas.openxmlformats.org/drawingml/2006/main">
              <a:ext uri="{FF2B5EF4-FFF2-40B4-BE49-F238E27FC236}">
                <a16:creationId xmlns:a16="http://schemas.microsoft.com/office/drawing/2014/main" id="{82534429-22BF-4D4C-B5DB-52E06C4931C5}"/>
              </a:ext>
            </a:extLst>
          </p:cNvPr>
          <p:cNvSpPr>
            <a:spLocks xmlns:a="http://schemas.openxmlformats.org/drawingml/2006/main" noGrp="1"/>
          </p:cNvSpPr>
          <p:nvPr/>
        </p:nvSpPr>
        <p:spPr>
          <a:xfrm xmlns:a="http://schemas.openxmlformats.org/drawingml/2006/main">
            <a:off x="6305550" y="3476625"/>
            <a:ext cx="255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A"/>
                </a:solidFill>
                <a:latin typeface="Hiragino Sans"/>
                <a:ea typeface="Hiragino Sans"/>
                <a:cs typeface="Hiragino Sans"/>
              </a:defRPr>
            </a:pPr>
            <a:r>
              <a:rPr sz="1950" b="0">
                <a:solidFill>
                  <a:srgbClr val="F0F4FA"/>
                </a:solidFill>
                <a:latin typeface="Hiragino Sans"/>
                <a:ea typeface="Hiragino Sans"/>
                <a:cs typeface="Hiragino Sans"/>
              </a:rPr>
              <a:t>本のレポート</a:t>
            </a:r>
          </a:p>
        </p:txBody>
      </p:sp>
      <p:sp>
        <p:nvSpPr>
          <p:cNvPr id="10" name="">
            <a:extLst xmlns:a="http://schemas.openxmlformats.org/drawingml/2006/main">
              <a:ext uri="{FF2B5EF4-FFF2-40B4-BE49-F238E27FC236}">
                <a16:creationId xmlns:a16="http://schemas.microsoft.com/office/drawing/2014/main" id="{4C616BFA-5D44-482B-8A68-42230C3FF796}"/>
              </a:ext>
            </a:extLst>
          </p:cNvPr>
          <p:cNvSpPr>
            <a:spLocks xmlns:a="http://schemas.openxmlformats.org/drawingml/2006/main" noGrp="1"/>
          </p:cNvSpPr>
          <p:nvPr/>
        </p:nvSpPr>
        <p:spPr>
          <a:xfrm xmlns:a="http://schemas.openxmlformats.org/drawingml/2006/main">
            <a:off x="9144000" y="2305050"/>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E4BE"/>
                </a:solidFill>
                <a:latin typeface="Hiragino Sans"/>
                <a:ea typeface="Hiragino Sans"/>
                <a:cs typeface="Hiragino Sans"/>
              </a:defRPr>
            </a:pPr>
            <a:r>
              <a:rPr sz="5700" b="1">
                <a:solidFill>
                  <a:srgbClr val="34E4BE"/>
                </a:solidFill>
                <a:latin typeface="Hiragino Sans"/>
                <a:ea typeface="Hiragino Sans"/>
                <a:cs typeface="Hiragino Sans"/>
              </a:rPr>
              <a:t>101</a:t>
            </a:r>
          </a:p>
        </p:txBody>
      </p:sp>
      <p:sp>
        <p:nvSpPr>
          <p:cNvPr id="11" name="">
            <a:extLst xmlns:a="http://schemas.openxmlformats.org/drawingml/2006/main">
              <a:ext uri="{FF2B5EF4-FFF2-40B4-BE49-F238E27FC236}">
                <a16:creationId xmlns:a16="http://schemas.microsoft.com/office/drawing/2014/main" id="{C9AF5276-ABBE-4271-8BCC-17A2215E78B4}"/>
              </a:ext>
            </a:extLst>
          </p:cNvPr>
          <p:cNvSpPr>
            <a:spLocks xmlns:a="http://schemas.openxmlformats.org/drawingml/2006/main" noGrp="1"/>
          </p:cNvSpPr>
          <p:nvPr/>
        </p:nvSpPr>
        <p:spPr>
          <a:xfrm xmlns:a="http://schemas.openxmlformats.org/drawingml/2006/main">
            <a:off x="9144000" y="3476625"/>
            <a:ext cx="255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A"/>
                </a:solidFill>
                <a:latin typeface="Hiragino Sans"/>
                <a:ea typeface="Hiragino Sans"/>
                <a:cs typeface="Hiragino Sans"/>
              </a:defRPr>
            </a:pPr>
            <a:r>
              <a:rPr sz="1950" b="0">
                <a:solidFill>
                  <a:srgbClr val="F0F4FA"/>
                </a:solidFill>
                <a:latin typeface="Hiragino Sans"/>
                <a:ea typeface="Hiragino Sans"/>
                <a:cs typeface="Hiragino Sans"/>
              </a:rPr>
              <a:t>語の用語集</a:t>
            </a:r>
          </a:p>
        </p:txBody>
      </p:sp>
      <p:sp>
        <p:nvSpPr>
          <p:cNvPr id="12" name="">
            <a:extLst xmlns:a="http://schemas.openxmlformats.org/drawingml/2006/main">
              <a:ext uri="{FF2B5EF4-FFF2-40B4-BE49-F238E27FC236}">
                <a16:creationId xmlns:a16="http://schemas.microsoft.com/office/drawing/2014/main" id="{C8D319E6-3E38-45E0-A516-9DC61C92E929}"/>
              </a:ext>
            </a:extLst>
          </p:cNvPr>
          <p:cNvSpPr>
            <a:spLocks xmlns:a="http://schemas.openxmlformats.org/drawingml/2006/main" noGrp="1"/>
          </p:cNvSpPr>
          <p:nvPr/>
        </p:nvSpPr>
        <p:spPr>
          <a:xfrm xmlns:a="http://schemas.openxmlformats.org/drawingml/2006/main">
            <a:off x="628650" y="4810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全体年表・生成AI年表・トレンド・デイリー・用語集・アーカイブ</a:t>
            </a:r>
          </a:p>
        </p:txBody>
      </p:sp>
      <p:sp>
        <p:nvSpPr>
          <p:cNvPr id="13" name="">
            <a:extLst xmlns:a="http://schemas.openxmlformats.org/drawingml/2006/main">
              <a:ext uri="{FF2B5EF4-FFF2-40B4-BE49-F238E27FC236}">
                <a16:creationId xmlns:a16="http://schemas.microsoft.com/office/drawing/2014/main" id="{919901A5-2E83-4EDA-8F6D-2F930591BF1A}"/>
              </a:ext>
            </a:extLst>
          </p:cNvPr>
          <p:cNvSpPr>
            <a:spLocks xmlns:a="http://schemas.openxmlformats.org/drawingml/2006/main" noGrp="1"/>
          </p:cNvSpPr>
          <p:nvPr/>
        </p:nvSpPr>
        <p:spPr>
          <a:xfrm xmlns:a="http://schemas.openxmlformats.org/drawingml/2006/main">
            <a:off x="628650" y="58007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6C2D5"/>
                </a:solidFill>
                <a:latin typeface="Hiragino Sans"/>
                <a:ea typeface="Hiragino Sans"/>
                <a:cs typeface="Hiragino Sans"/>
              </a:defRPr>
            </a:pPr>
            <a:r>
              <a:rPr sz="1350" b="0">
                <a:solidFill>
                  <a:srgbClr val="B6C2D5"/>
                </a:solidFill>
                <a:latin typeface="Hiragino Sans"/>
                <a:ea typeface="Hiragino Sans"/>
                <a:cs typeface="Hiragino Sans"/>
              </a:rPr>
              <a:t>件数は2026年9月18日の確認値です。</a:t>
            </a:r>
          </a:p>
        </p:txBody>
      </p:sp>
    </p:spTree>
    <p:extLst>
      <p:ext uri="{BB962C8B-B14F-4D97-AF65-F5344CB8AC3E}">
        <p14:creationId xmlns:p14="http://schemas.microsoft.com/office/powerpoint/2010/main" val="1428681807"/>
      </p:ext>
    </p:extLst>
  </p:cSld>
</p:sld>
</file>

<file path=ppt/slides/slide3.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DEA7ED-2FE8-4C4B-A727-A3363837DAFB}"/>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残したい強み</a:t>
            </a:r>
          </a:p>
        </p:txBody>
      </p:sp>
      <p:sp>
        <p:nvSpPr>
          <p:cNvPr id="2" name="">
            <a:extLst xmlns:a="http://schemas.openxmlformats.org/drawingml/2006/main">
              <a:ext uri="{FF2B5EF4-FFF2-40B4-BE49-F238E27FC236}">
                <a16:creationId xmlns:a16="http://schemas.microsoft.com/office/drawing/2014/main" id="{3D33972E-BFA5-4ED9-9C99-5C3F69E5434F}"/>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見た目と継続運用の両方に、すでに使いやすさの土台があります。</a:t>
            </a:r>
          </a:p>
        </p:txBody>
      </p:sp>
      <p:sp>
        <p:nvSpPr>
          <p:cNvPr id="3" name="">
            <a:extLst xmlns:a="http://schemas.openxmlformats.org/drawingml/2006/main">
              <a:ext uri="{FF2B5EF4-FFF2-40B4-BE49-F238E27FC236}">
                <a16:creationId xmlns:a16="http://schemas.microsoft.com/office/drawing/2014/main" id="{C8F8FCB7-E4F6-415C-A6C7-4AFE95E53967}"/>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03</a:t>
            </a:r>
          </a:p>
        </p:txBody>
      </p:sp>
      <p:sp>
        <p:nvSpPr>
          <p:cNvPr id="4" name="">
            <a:extLst xmlns:a="http://schemas.openxmlformats.org/drawingml/2006/main">
              <a:ext uri="{FF2B5EF4-FFF2-40B4-BE49-F238E27FC236}">
                <a16:creationId xmlns:a16="http://schemas.microsoft.com/office/drawing/2014/main" id="{E8B7CCE2-D8C3-48B3-BDED-445E570587E5}"/>
              </a:ext>
            </a:extLst>
          </p:cNvPr>
          <p:cNvSpPr>
            <a:spLocks xmlns:a="http://schemas.openxmlformats.org/drawingml/2006/main" noGrp="1"/>
          </p:cNvSpPr>
          <p:nvPr/>
        </p:nvSpPr>
        <p:spPr>
          <a:xfrm xmlns:a="http://schemas.openxmlformats.org/drawingml/2006/main">
            <a:off x="6286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読む体験</a:t>
            </a:r>
          </a:p>
        </p:txBody>
      </p:sp>
      <p:sp>
        <p:nvSpPr>
          <p:cNvPr id="5" name="">
            <a:extLst xmlns:a="http://schemas.openxmlformats.org/drawingml/2006/main">
              <a:ext uri="{FF2B5EF4-FFF2-40B4-BE49-F238E27FC236}">
                <a16:creationId xmlns:a16="http://schemas.microsoft.com/office/drawing/2014/main" id="{0EB5C944-37DA-4766-AEA6-B8D27EF45992}"/>
              </a:ext>
            </a:extLst>
          </p:cNvPr>
          <p:cNvSpPr>
            <a:spLocks xmlns:a="http://schemas.openxmlformats.org/drawingml/2006/main" noGrp="1"/>
          </p:cNvSpPr>
          <p:nvPr/>
        </p:nvSpPr>
        <p:spPr>
          <a:xfrm xmlns:a="http://schemas.openxmlformats.org/drawingml/2006/main">
            <a:off x="6286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見出し・導入・要点で概要を把握</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検索とカテゴリで絞り込み</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ネオン配色と書体の一貫性</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音声で移動中にも情報を取得</a:t>
            </a:r>
          </a:p>
        </p:txBody>
      </p:sp>
      <p:sp>
        <p:nvSpPr>
          <p:cNvPr id="6" name="">
            <a:extLst xmlns:a="http://schemas.openxmlformats.org/drawingml/2006/main">
              <a:ext uri="{FF2B5EF4-FFF2-40B4-BE49-F238E27FC236}">
                <a16:creationId xmlns:a16="http://schemas.microsoft.com/office/drawing/2014/main" id="{6F1819EA-ECD6-4F83-8BEB-8AE55D1E6DD2}"/>
              </a:ext>
            </a:extLst>
          </p:cNvPr>
          <p:cNvSpPr>
            <a:spLocks xmlns:a="http://schemas.openxmlformats.org/drawingml/2006/main" noGrp="1"/>
          </p:cNvSpPr>
          <p:nvPr/>
        </p:nvSpPr>
        <p:spPr>
          <a:xfrm xmlns:a="http://schemas.openxmlformats.org/drawingml/2006/main">
            <a:off x="63055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継続して使える仕組み</a:t>
            </a:r>
          </a:p>
        </p:txBody>
      </p:sp>
      <p:sp>
        <p:nvSpPr>
          <p:cNvPr id="7" name="">
            <a:extLst xmlns:a="http://schemas.openxmlformats.org/drawingml/2006/main">
              <a:ext uri="{FF2B5EF4-FFF2-40B4-BE49-F238E27FC236}">
                <a16:creationId xmlns:a16="http://schemas.microsoft.com/office/drawing/2014/main" id="{FD73039F-873D-4DB9-92D9-2BABA2501D21}"/>
              </a:ext>
            </a:extLst>
          </p:cNvPr>
          <p:cNvSpPr>
            <a:spLocks xmlns:a="http://schemas.openxmlformats.org/drawingml/2006/main" noGrp="1"/>
          </p:cNvSpPr>
          <p:nvPr/>
        </p:nvSpPr>
        <p:spPr>
          <a:xfrm xmlns:a="http://schemas.openxmlformats.org/drawingml/2006/main">
            <a:off x="63055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毎日の収集・通知・音声を自動化</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日付付きリンクで当日の記事へ</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「戻る」でレポート全文を閉じる</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音声の失敗でもニュースは更新</a:t>
            </a:r>
          </a:p>
        </p:txBody>
      </p:sp>
    </p:spTree>
    <p:extLst>
      <p:ext uri="{BB962C8B-B14F-4D97-AF65-F5344CB8AC3E}">
        <p14:creationId xmlns:p14="http://schemas.microsoft.com/office/powerpoint/2010/main" val="367376760"/>
      </p:ext>
    </p:extLst>
  </p:cSld>
</p:sld>
</file>

<file path=ppt/slides/slide4.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086BC2-8C02-4638-AC07-4CF5618C4E0F}"/>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改善の優先順位</a:t>
            </a:r>
          </a:p>
        </p:txBody>
      </p:sp>
      <p:sp>
        <p:nvSpPr>
          <p:cNvPr id="2" name="">
            <a:extLst xmlns:a="http://schemas.openxmlformats.org/drawingml/2006/main">
              <a:ext uri="{FF2B5EF4-FFF2-40B4-BE49-F238E27FC236}">
                <a16:creationId xmlns:a16="http://schemas.microsoft.com/office/drawing/2014/main" id="{1FFFEC8E-6E07-4D8C-9D98-003F701B9C40}"/>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読者への影響と、既存の良さを保てるかを基準に整理しました。</a:t>
            </a:r>
          </a:p>
        </p:txBody>
      </p:sp>
      <p:sp>
        <p:nvSpPr>
          <p:cNvPr id="3" name="">
            <a:extLst xmlns:a="http://schemas.openxmlformats.org/drawingml/2006/main">
              <a:ext uri="{FF2B5EF4-FFF2-40B4-BE49-F238E27FC236}">
                <a16:creationId xmlns:a16="http://schemas.microsoft.com/office/drawing/2014/main" id="{B47059EB-217C-4C1A-B98D-A0D7057D100C}"/>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04</a:t>
            </a:r>
          </a:p>
        </p:txBody>
      </p:sp>
      <p:sp>
        <p:nvSpPr>
          <p:cNvPr id="4" name="">
            <a:extLst xmlns:a="http://schemas.openxmlformats.org/drawingml/2006/main">
              <a:ext uri="{FF2B5EF4-FFF2-40B4-BE49-F238E27FC236}">
                <a16:creationId xmlns:a16="http://schemas.microsoft.com/office/drawing/2014/main" id="{C81E9768-95C2-491F-8105-04774B6ACFA3}"/>
              </a:ext>
            </a:extLst>
          </p:cNvPr>
          <p:cNvSpPr>
            <a:spLocks xmlns:a="http://schemas.openxmlformats.org/drawingml/2006/main" noGrp="1"/>
          </p:cNvSpPr>
          <p:nvPr/>
        </p:nvSpPr>
        <p:spPr>
          <a:xfrm xmlns:a="http://schemas.openxmlformats.org/drawingml/2006/main">
            <a:off x="628650" y="21336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最優先</a:t>
            </a:r>
          </a:p>
        </p:txBody>
      </p:sp>
      <p:sp>
        <p:nvSpPr>
          <p:cNvPr id="5" name="">
            <a:extLst xmlns:a="http://schemas.openxmlformats.org/drawingml/2006/main">
              <a:ext uri="{FF2B5EF4-FFF2-40B4-BE49-F238E27FC236}">
                <a16:creationId xmlns:a16="http://schemas.microsoft.com/office/drawing/2014/main" id="{89D408E4-2449-4543-895D-87703AABBB1D}"/>
              </a:ext>
            </a:extLst>
          </p:cNvPr>
          <p:cNvSpPr>
            <a:spLocks xmlns:a="http://schemas.openxmlformats.org/drawingml/2006/main" noGrp="1"/>
          </p:cNvSpPr>
          <p:nvPr/>
        </p:nvSpPr>
        <p:spPr>
          <a:xfrm xmlns:a="http://schemas.openxmlformats.org/drawingml/2006/main">
            <a:off x="3886200" y="21336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情報の根拠・更新時点を明確にする</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スマホとキーボードの操作上の課題を直す</a:t>
            </a:r>
          </a:p>
        </p:txBody>
      </p:sp>
      <p:sp>
        <p:nvSpPr>
          <p:cNvPr id="6" name="">
            <a:extLst xmlns:a="http://schemas.openxmlformats.org/drawingml/2006/main">
              <a:ext uri="{FF2B5EF4-FFF2-40B4-BE49-F238E27FC236}">
                <a16:creationId xmlns:a16="http://schemas.microsoft.com/office/drawing/2014/main" id="{C08BDCE0-D418-4E12-80CB-EDB3DE93E2F4}"/>
              </a:ext>
            </a:extLst>
          </p:cNvPr>
          <p:cNvSpPr>
            <a:spLocks xmlns:a="http://schemas.openxmlformats.org/drawingml/2006/main" noGrp="1"/>
          </p:cNvSpPr>
          <p:nvPr/>
        </p:nvSpPr>
        <p:spPr>
          <a:xfrm xmlns:a="http://schemas.openxmlformats.org/drawingml/2006/main">
            <a:off x="628650" y="33528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次に着手</a:t>
            </a:r>
          </a:p>
        </p:txBody>
      </p:sp>
      <p:sp>
        <p:nvSpPr>
          <p:cNvPr id="7" name="">
            <a:extLst xmlns:a="http://schemas.openxmlformats.org/drawingml/2006/main">
              <a:ext uri="{FF2B5EF4-FFF2-40B4-BE49-F238E27FC236}">
                <a16:creationId xmlns:a16="http://schemas.microsoft.com/office/drawing/2014/main" id="{2239AEF7-F955-4683-809C-13929126F0FE}"/>
              </a:ext>
            </a:extLst>
          </p:cNvPr>
          <p:cNvSpPr>
            <a:spLocks xmlns:a="http://schemas.openxmlformats.org/drawingml/2006/main" noGrp="1"/>
          </p:cNvSpPr>
          <p:nvPr/>
        </p:nvSpPr>
        <p:spPr>
          <a:xfrm xmlns:a="http://schemas.openxmlformats.org/drawingml/2006/main">
            <a:off x="3886200" y="33528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日次ニュースを検索できるようにする</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記事の共有と長文の読みやすさを改善する</a:t>
            </a:r>
          </a:p>
        </p:txBody>
      </p:sp>
      <p:sp>
        <p:nvSpPr>
          <p:cNvPr id="8" name="">
            <a:extLst xmlns:a="http://schemas.openxmlformats.org/drawingml/2006/main">
              <a:ext uri="{FF2B5EF4-FFF2-40B4-BE49-F238E27FC236}">
                <a16:creationId xmlns:a16="http://schemas.microsoft.com/office/drawing/2014/main" id="{90A8FD47-C252-48A4-A80A-BEE67DB3B3D1}"/>
              </a:ext>
            </a:extLst>
          </p:cNvPr>
          <p:cNvSpPr>
            <a:spLocks xmlns:a="http://schemas.openxmlformats.org/drawingml/2006/main" noGrp="1"/>
          </p:cNvSpPr>
          <p:nvPr/>
        </p:nvSpPr>
        <p:spPr>
          <a:xfrm xmlns:a="http://schemas.openxmlformats.org/drawingml/2006/main">
            <a:off x="628650" y="45720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継続して整備</a:t>
            </a:r>
          </a:p>
        </p:txBody>
      </p:sp>
      <p:sp>
        <p:nvSpPr>
          <p:cNvPr id="9" name="">
            <a:extLst xmlns:a="http://schemas.openxmlformats.org/drawingml/2006/main">
              <a:ext uri="{FF2B5EF4-FFF2-40B4-BE49-F238E27FC236}">
                <a16:creationId xmlns:a16="http://schemas.microsoft.com/office/drawing/2014/main" id="{CFC9D853-05BF-4D3E-88D3-ABC1809F2464}"/>
              </a:ext>
            </a:extLst>
          </p:cNvPr>
          <p:cNvSpPr>
            <a:spLocks xmlns:a="http://schemas.openxmlformats.org/drawingml/2006/main" noGrp="1"/>
          </p:cNvSpPr>
          <p:nvPr/>
        </p:nvSpPr>
        <p:spPr>
          <a:xfrm xmlns:a="http://schemas.openxmlformats.org/drawingml/2006/main">
            <a:off x="3886200" y="45720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更新失敗の案内、編集方針、訂正管理</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表示速度と実際の操作を確認するテスト</a:t>
            </a:r>
          </a:p>
        </p:txBody>
      </p:sp>
    </p:spTree>
    <p:extLst>
      <p:ext uri="{BB962C8B-B14F-4D97-AF65-F5344CB8AC3E}">
        <p14:creationId xmlns:p14="http://schemas.microsoft.com/office/powerpoint/2010/main" val="490931130"/>
      </p:ext>
    </p:extLst>
  </p:cSld>
</p:sld>
</file>

<file path=ppt/slides/slide5.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EAA4A1-E7CD-4090-93D6-7EDF0A117E8E}"/>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情報の根拠と更新時点</a:t>
            </a:r>
          </a:p>
        </p:txBody>
      </p:sp>
      <p:sp>
        <p:nvSpPr>
          <p:cNvPr id="2" name="">
            <a:extLst xmlns:a="http://schemas.openxmlformats.org/drawingml/2006/main">
              <a:ext uri="{FF2B5EF4-FFF2-40B4-BE49-F238E27FC236}">
                <a16:creationId xmlns:a16="http://schemas.microsoft.com/office/drawing/2014/main" id="{3B1415DD-73B9-41D9-B357-46A60E7B4D81}"/>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最優先 ①出典　②事実と予測の区別　③更新日</a:t>
            </a:r>
          </a:p>
        </p:txBody>
      </p:sp>
      <p:sp>
        <p:nvSpPr>
          <p:cNvPr id="3" name="">
            <a:extLst xmlns:a="http://schemas.openxmlformats.org/drawingml/2006/main">
              <a:ext uri="{FF2B5EF4-FFF2-40B4-BE49-F238E27FC236}">
                <a16:creationId xmlns:a16="http://schemas.microsoft.com/office/drawing/2014/main" id="{8A8E5A78-59A7-4A9F-9E4F-4763023413B5}"/>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05</a:t>
            </a:r>
          </a:p>
        </p:txBody>
      </p:sp>
      <p:sp>
        <p:nvSpPr>
          <p:cNvPr id="4" name="">
            <a:extLst xmlns:a="http://schemas.openxmlformats.org/drawingml/2006/main">
              <a:ext uri="{FF2B5EF4-FFF2-40B4-BE49-F238E27FC236}">
                <a16:creationId xmlns:a16="http://schemas.microsoft.com/office/drawing/2014/main" id="{ABE173F9-5C30-4DEF-9490-66ECB78D976A}"/>
              </a:ext>
            </a:extLst>
          </p:cNvPr>
          <p:cNvSpPr>
            <a:spLocks xmlns:a="http://schemas.openxmlformats.org/drawingml/2006/main" noGrp="1"/>
          </p:cNvSpPr>
          <p:nvPr/>
        </p:nvSpPr>
        <p:spPr>
          <a:xfrm xmlns:a="http://schemas.openxmlformats.org/drawingml/2006/main">
            <a:off x="6286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確認した課題</a:t>
            </a:r>
          </a:p>
        </p:txBody>
      </p:sp>
      <p:sp>
        <p:nvSpPr>
          <p:cNvPr id="5" name="">
            <a:extLst xmlns:a="http://schemas.openxmlformats.org/drawingml/2006/main">
              <a:ext uri="{FF2B5EF4-FFF2-40B4-BE49-F238E27FC236}">
                <a16:creationId xmlns:a16="http://schemas.microsoft.com/office/drawing/2014/main" id="{7AE9F6F2-8450-40AB-87C6-F4F8046A1DC9}"/>
              </a:ext>
            </a:extLst>
          </p:cNvPr>
          <p:cNvSpPr>
            <a:spLocks xmlns:a="http://schemas.openxmlformats.org/drawingml/2006/main" noGrp="1"/>
          </p:cNvSpPr>
          <p:nvPr/>
        </p:nvSpPr>
        <p:spPr>
          <a:xfrm xmlns:a="http://schemas.openxmlformats.org/drawingml/2006/main">
            <a:off x="6286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トレンドの出典は内部レポート名</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配信用レポート25本に外部リンクなし</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実績・計画・予測が同じ見え方</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「BREAKING」に古い話題も混在</a:t>
            </a:r>
          </a:p>
        </p:txBody>
      </p:sp>
      <p:sp>
        <p:nvSpPr>
          <p:cNvPr id="6" name="">
            <a:extLst xmlns:a="http://schemas.openxmlformats.org/drawingml/2006/main">
              <a:ext uri="{FF2B5EF4-FFF2-40B4-BE49-F238E27FC236}">
                <a16:creationId xmlns:a16="http://schemas.microsoft.com/office/drawing/2014/main" id="{93CE23F5-48B1-4DC3-9903-7F6CF58C5043}"/>
              </a:ext>
            </a:extLst>
          </p:cNvPr>
          <p:cNvSpPr>
            <a:spLocks xmlns:a="http://schemas.openxmlformats.org/drawingml/2006/main" noGrp="1"/>
          </p:cNvSpPr>
          <p:nvPr/>
        </p:nvSpPr>
        <p:spPr>
          <a:xfrm xmlns:a="http://schemas.openxmlformats.org/drawingml/2006/main">
            <a:off x="63055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改善案</a:t>
            </a:r>
          </a:p>
        </p:txBody>
      </p:sp>
      <p:sp>
        <p:nvSpPr>
          <p:cNvPr id="7" name="">
            <a:extLst xmlns:a="http://schemas.openxmlformats.org/drawingml/2006/main">
              <a:ext uri="{FF2B5EF4-FFF2-40B4-BE49-F238E27FC236}">
                <a16:creationId xmlns:a16="http://schemas.microsoft.com/office/drawing/2014/main" id="{FBCEC733-35DD-4CB0-B3C4-DFA8A4226432}"/>
              </a:ext>
            </a:extLst>
          </p:cNvPr>
          <p:cNvSpPr>
            <a:spLocks xmlns:a="http://schemas.openxmlformats.org/drawingml/2006/main" noGrp="1"/>
          </p:cNvSpPr>
          <p:nvPr/>
        </p:nvSpPr>
        <p:spPr>
          <a:xfrm xmlns:a="http://schemas.openxmlformats.org/drawingml/2006/main">
            <a:off x="63055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主要な数値から一次資料へリンク</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参考資料をレポート末尾に掲載</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「実績」「計画」「予測」を明示</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最終更新日と情報の確認日を表示</a:t>
            </a:r>
          </a:p>
        </p:txBody>
      </p:sp>
      <p:sp>
        <p:nvSpPr>
          <p:cNvPr id="8" name="">
            <a:extLst xmlns:a="http://schemas.openxmlformats.org/drawingml/2006/main">
              <a:ext uri="{FF2B5EF4-FFF2-40B4-BE49-F238E27FC236}">
                <a16:creationId xmlns:a16="http://schemas.microsoft.com/office/drawing/2014/main" id="{A15C48C9-C0D0-4219-A204-B0976EEBF65A}"/>
              </a:ext>
            </a:extLst>
          </p:cNvPr>
          <p:cNvSpPr>
            <a:spLocks xmlns:a="http://schemas.openxmlformats.org/drawingml/2006/main" noGrp="1"/>
          </p:cNvSpPr>
          <p:nvPr/>
        </p:nvSpPr>
        <p:spPr>
          <a:xfrm xmlns:a="http://schemas.openxmlformats.org/drawingml/2006/main">
            <a:off x="628650" y="59150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6C2D5"/>
                </a:solidFill>
                <a:latin typeface="Hiragino Sans"/>
                <a:ea typeface="Hiragino Sans"/>
                <a:cs typeface="Hiragino Sans"/>
              </a:defRPr>
            </a:pPr>
            <a:r>
              <a:rPr sz="1575" b="0">
                <a:solidFill>
                  <a:srgbClr val="B6C2D5"/>
                </a:solidFill>
                <a:latin typeface="Hiragino Sans"/>
                <a:ea typeface="Hiragino Sans"/>
                <a:cs typeface="Hiragino Sans"/>
              </a:rPr>
              <a:t>数値の対象・調査時点も添えると、異なる調査を誤って比較しにくくなります。</a:t>
            </a:r>
          </a:p>
        </p:txBody>
      </p:sp>
    </p:spTree>
    <p:extLst>
      <p:ext uri="{BB962C8B-B14F-4D97-AF65-F5344CB8AC3E}">
        <p14:creationId xmlns:p14="http://schemas.microsoft.com/office/powerpoint/2010/main" val="1066844781"/>
      </p:ext>
    </p:extLst>
  </p:cSld>
</p:sld>
</file>

<file path=ppt/slides/slide6.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4A3BAE-6B5F-435D-A7E1-FA47F0009889}"/>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スマホの操作と本文の読みやすさ</a:t>
            </a:r>
          </a:p>
        </p:txBody>
      </p:sp>
      <p:sp>
        <p:nvSpPr>
          <p:cNvPr id="2" name="">
            <a:extLst xmlns:a="http://schemas.openxmlformats.org/drawingml/2006/main">
              <a:ext uri="{FF2B5EF4-FFF2-40B4-BE49-F238E27FC236}">
                <a16:creationId xmlns:a16="http://schemas.microsoft.com/office/drawing/2014/main" id="{2B1089BB-6087-4BE7-8119-22B19C4F8544}"/>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最優先 ④音声操作　⑤全文のキーボード操作　／　改善候補 ⑪⑫</a:t>
            </a:r>
          </a:p>
        </p:txBody>
      </p:sp>
      <p:sp>
        <p:nvSpPr>
          <p:cNvPr id="3" name="">
            <a:extLst xmlns:a="http://schemas.openxmlformats.org/drawingml/2006/main">
              <a:ext uri="{FF2B5EF4-FFF2-40B4-BE49-F238E27FC236}">
                <a16:creationId xmlns:a16="http://schemas.microsoft.com/office/drawing/2014/main" id="{FBE5077C-401D-4058-9221-749A6E80E2FC}"/>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06</a:t>
            </a:r>
          </a:p>
        </p:txBody>
      </p:sp>
      <p:sp>
        <p:nvSpPr>
          <p:cNvPr id="4" name="">
            <a:extLst xmlns:a="http://schemas.openxmlformats.org/drawingml/2006/main">
              <a:ext uri="{FF2B5EF4-FFF2-40B4-BE49-F238E27FC236}">
                <a16:creationId xmlns:a16="http://schemas.microsoft.com/office/drawing/2014/main" id="{20C81D77-6B8E-4C47-985A-0FED1D72BDBB}"/>
              </a:ext>
            </a:extLst>
          </p:cNvPr>
          <p:cNvSpPr>
            <a:spLocks xmlns:a="http://schemas.openxmlformats.org/drawingml/2006/main" noGrp="1"/>
          </p:cNvSpPr>
          <p:nvPr/>
        </p:nvSpPr>
        <p:spPr>
          <a:xfrm xmlns:a="http://schemas.openxmlformats.org/drawingml/2006/main">
            <a:off x="628650" y="21336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音声の操作</a:t>
            </a:r>
          </a:p>
        </p:txBody>
      </p:sp>
      <p:sp>
        <p:nvSpPr>
          <p:cNvPr id="5" name="">
            <a:extLst xmlns:a="http://schemas.openxmlformats.org/drawingml/2006/main">
              <a:ext uri="{FF2B5EF4-FFF2-40B4-BE49-F238E27FC236}">
                <a16:creationId xmlns:a16="http://schemas.microsoft.com/office/drawing/2014/main" id="{476902C3-17E7-4B4A-8F1C-97B10D328B92}"/>
              </a:ext>
            </a:extLst>
          </p:cNvPr>
          <p:cNvSpPr>
            <a:spLocks xmlns:a="http://schemas.openxmlformats.org/drawingml/2006/main" noGrp="1"/>
          </p:cNvSpPr>
          <p:nvPr/>
        </p:nvSpPr>
        <p:spPr>
          <a:xfrm xmlns:a="http://schemas.openxmlformats.org/drawingml/2006/main">
            <a:off x="3886200" y="21336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「視聴済み」が文字なしの15×15pxの欄に</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ラベルを残し、ボタンの押せる範囲を広げる</a:t>
            </a:r>
          </a:p>
        </p:txBody>
      </p:sp>
      <p:sp>
        <p:nvSpPr>
          <p:cNvPr id="6" name="">
            <a:extLst xmlns:a="http://schemas.openxmlformats.org/drawingml/2006/main">
              <a:ext uri="{FF2B5EF4-FFF2-40B4-BE49-F238E27FC236}">
                <a16:creationId xmlns:a16="http://schemas.microsoft.com/office/drawing/2014/main" id="{E14959D6-7193-4B45-9EBB-FBAF97299CE6}"/>
              </a:ext>
            </a:extLst>
          </p:cNvPr>
          <p:cNvSpPr>
            <a:spLocks xmlns:a="http://schemas.openxmlformats.org/drawingml/2006/main" noGrp="1"/>
          </p:cNvSpPr>
          <p:nvPr/>
        </p:nvSpPr>
        <p:spPr>
          <a:xfrm xmlns:a="http://schemas.openxmlformats.org/drawingml/2006/main">
            <a:off x="628650" y="337185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全文の操作</a:t>
            </a:r>
          </a:p>
        </p:txBody>
      </p:sp>
      <p:sp>
        <p:nvSpPr>
          <p:cNvPr id="7" name="">
            <a:extLst xmlns:a="http://schemas.openxmlformats.org/drawingml/2006/main">
              <a:ext uri="{FF2B5EF4-FFF2-40B4-BE49-F238E27FC236}">
                <a16:creationId xmlns:a16="http://schemas.microsoft.com/office/drawing/2014/main" id="{E8DECA74-B674-41A8-8763-B1921462079E}"/>
              </a:ext>
            </a:extLst>
          </p:cNvPr>
          <p:cNvSpPr>
            <a:spLocks xmlns:a="http://schemas.openxmlformats.org/drawingml/2006/main" noGrp="1"/>
          </p:cNvSpPr>
          <p:nvPr/>
        </p:nvSpPr>
        <p:spPr>
          <a:xfrm xmlns:a="http://schemas.openxmlformats.org/drawingml/2006/main">
            <a:off x="3886200" y="337185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Tabキーで背後のカードへ移動する状態を確認</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全文内にフォーカスを移し、閉じたら元の位置へ</a:t>
            </a:r>
          </a:p>
        </p:txBody>
      </p:sp>
      <p:sp>
        <p:nvSpPr>
          <p:cNvPr id="8" name="">
            <a:extLst xmlns:a="http://schemas.openxmlformats.org/drawingml/2006/main">
              <a:ext uri="{FF2B5EF4-FFF2-40B4-BE49-F238E27FC236}">
                <a16:creationId xmlns:a16="http://schemas.microsoft.com/office/drawing/2014/main" id="{905E8683-1A75-4F9B-B7CB-AFD7DACDE1C7}"/>
              </a:ext>
            </a:extLst>
          </p:cNvPr>
          <p:cNvSpPr>
            <a:spLocks xmlns:a="http://schemas.openxmlformats.org/drawingml/2006/main" noGrp="1"/>
          </p:cNvSpPr>
          <p:nvPr/>
        </p:nvSpPr>
        <p:spPr>
          <a:xfrm xmlns:a="http://schemas.openxmlformats.org/drawingml/2006/main">
            <a:off x="628650" y="46101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文字と余白</a:t>
            </a:r>
          </a:p>
        </p:txBody>
      </p:sp>
      <p:sp>
        <p:nvSpPr>
          <p:cNvPr id="9" name="">
            <a:extLst xmlns:a="http://schemas.openxmlformats.org/drawingml/2006/main">
              <a:ext uri="{FF2B5EF4-FFF2-40B4-BE49-F238E27FC236}">
                <a16:creationId xmlns:a16="http://schemas.microsoft.com/office/drawing/2014/main" id="{FE1DEB6C-35C1-4E9C-9E17-233063AA035A}"/>
              </a:ext>
            </a:extLst>
          </p:cNvPr>
          <p:cNvSpPr>
            <a:spLocks xmlns:a="http://schemas.openxmlformats.org/drawingml/2006/main" noGrp="1"/>
          </p:cNvSpPr>
          <p:nvPr/>
        </p:nvSpPr>
        <p:spPr>
          <a:xfrm xmlns:a="http://schemas.openxmlformats.org/drawingml/2006/main">
            <a:off x="3886200" y="46101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日次本文は約13.3px。15〜16pxを候補に調整</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カレンダーや冒頭説明を畳み、本文を近くする</a:t>
            </a:r>
          </a:p>
        </p:txBody>
      </p:sp>
    </p:spTree>
    <p:extLst>
      <p:ext uri="{BB962C8B-B14F-4D97-AF65-F5344CB8AC3E}">
        <p14:creationId xmlns:p14="http://schemas.microsoft.com/office/powerpoint/2010/main" val="1493882615"/>
      </p:ext>
    </p:extLst>
  </p:cSld>
</p:sld>
</file>

<file path=ppt/slides/slide7.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87F1B8-9869-4692-8956-660BF55E6B9E}"/>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過去記事を探せると、蓄積を活用できる</a:t>
            </a:r>
          </a:p>
        </p:txBody>
      </p:sp>
      <p:sp>
        <p:nvSpPr>
          <p:cNvPr id="2" name="">
            <a:extLst xmlns:a="http://schemas.openxmlformats.org/drawingml/2006/main">
              <a:ext uri="{FF2B5EF4-FFF2-40B4-BE49-F238E27FC236}">
                <a16:creationId xmlns:a16="http://schemas.microsoft.com/office/drawing/2014/main" id="{B97E9919-5C9E-4492-A59C-F5E7A5094D46}"/>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改善候補 ⑥日次検索　⑦検索範囲　⑨用語リンク　⑩当日の見出し一覧</a:t>
            </a:r>
          </a:p>
        </p:txBody>
      </p:sp>
      <p:sp>
        <p:nvSpPr>
          <p:cNvPr id="3" name="">
            <a:extLst xmlns:a="http://schemas.openxmlformats.org/drawingml/2006/main">
              <a:ext uri="{FF2B5EF4-FFF2-40B4-BE49-F238E27FC236}">
                <a16:creationId xmlns:a16="http://schemas.microsoft.com/office/drawing/2014/main" id="{9342BFBA-3A6A-4507-AF50-8D8ABB472168}"/>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07</a:t>
            </a:r>
          </a:p>
        </p:txBody>
      </p:sp>
      <p:sp>
        <p:nvSpPr>
          <p:cNvPr id="4" name="">
            <a:extLst xmlns:a="http://schemas.openxmlformats.org/drawingml/2006/main">
              <a:ext uri="{FF2B5EF4-FFF2-40B4-BE49-F238E27FC236}">
                <a16:creationId xmlns:a16="http://schemas.microsoft.com/office/drawing/2014/main" id="{15FE916C-7AE9-4CC0-9596-D0BD82CD86DD}"/>
              </a:ext>
            </a:extLst>
          </p:cNvPr>
          <p:cNvSpPr>
            <a:spLocks xmlns:a="http://schemas.openxmlformats.org/drawingml/2006/main" noGrp="1"/>
          </p:cNvSpPr>
          <p:nvPr/>
        </p:nvSpPr>
        <p:spPr>
          <a:xfrm xmlns:a="http://schemas.openxmlformats.org/drawingml/2006/main">
            <a:off x="628650" y="2181225"/>
            <a:ext cx="10896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4E4BE"/>
                </a:solidFill>
                <a:latin typeface="Hiragino Sans"/>
                <a:ea typeface="Hiragino Sans"/>
                <a:cs typeface="Hiragino Sans"/>
              </a:defRPr>
            </a:pPr>
            <a:r>
              <a:rPr sz="2775" b="1">
                <a:solidFill>
                  <a:srgbClr val="34E4BE"/>
                </a:solidFill>
                <a:latin typeface="Hiragino Sans"/>
                <a:ea typeface="Hiragino Sans"/>
                <a:cs typeface="Hiragino Sans"/>
              </a:rPr>
              <a:t>「以前読んだHuaweiの記事」を探せる状態へ</a:t>
            </a:r>
          </a:p>
        </p:txBody>
      </p:sp>
      <p:sp>
        <p:nvSpPr>
          <p:cNvPr id="5" name="">
            <a:extLst xmlns:a="http://schemas.openxmlformats.org/drawingml/2006/main">
              <a:ext uri="{FF2B5EF4-FFF2-40B4-BE49-F238E27FC236}">
                <a16:creationId xmlns:a16="http://schemas.microsoft.com/office/drawing/2014/main" id="{9E96F5A0-40B9-4D0A-99AB-457C7D2C43F1}"/>
              </a:ext>
            </a:extLst>
          </p:cNvPr>
          <p:cNvSpPr>
            <a:spLocks xmlns:a="http://schemas.openxmlformats.org/drawingml/2006/main" noGrp="1"/>
          </p:cNvSpPr>
          <p:nvPr/>
        </p:nvSpPr>
        <p:spPr>
          <a:xfrm xmlns:a="http://schemas.openxmlformats.org/drawingml/2006/main">
            <a:off x="628650" y="314325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まずは日次検索</a:t>
            </a:r>
          </a:p>
        </p:txBody>
      </p:sp>
      <p:sp>
        <p:nvSpPr>
          <p:cNvPr id="6" name="">
            <a:extLst xmlns:a="http://schemas.openxmlformats.org/drawingml/2006/main">
              <a:ext uri="{FF2B5EF4-FFF2-40B4-BE49-F238E27FC236}">
                <a16:creationId xmlns:a16="http://schemas.microsoft.com/office/drawing/2014/main" id="{1D32A843-3313-478F-B83F-F350B435B480}"/>
              </a:ext>
            </a:extLst>
          </p:cNvPr>
          <p:cNvSpPr>
            <a:spLocks xmlns:a="http://schemas.openxmlformats.org/drawingml/2006/main" noGrp="1"/>
          </p:cNvSpPr>
          <p:nvPr/>
        </p:nvSpPr>
        <p:spPr>
          <a:xfrm xmlns:a="http://schemas.openxmlformats.org/drawingml/2006/main">
            <a:off x="3886200" y="314325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企業名・技術名で過去のニュースを検索</a:t>
            </a:r>
          </a:p>
        </p:txBody>
      </p:sp>
      <p:sp>
        <p:nvSpPr>
          <p:cNvPr id="7" name="">
            <a:extLst xmlns:a="http://schemas.openxmlformats.org/drawingml/2006/main">
              <a:ext uri="{FF2B5EF4-FFF2-40B4-BE49-F238E27FC236}">
                <a16:creationId xmlns:a16="http://schemas.microsoft.com/office/drawing/2014/main" id="{B626DC93-6C6F-4762-B402-E8A240E6D161}"/>
              </a:ext>
            </a:extLst>
          </p:cNvPr>
          <p:cNvSpPr>
            <a:spLocks xmlns:a="http://schemas.openxmlformats.org/drawingml/2006/main" noGrp="1"/>
          </p:cNvSpPr>
          <p:nvPr/>
        </p:nvSpPr>
        <p:spPr>
          <a:xfrm xmlns:a="http://schemas.openxmlformats.org/drawingml/2006/main">
            <a:off x="628650" y="409575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検索の対象を明示</a:t>
            </a:r>
          </a:p>
        </p:txBody>
      </p:sp>
      <p:sp>
        <p:nvSpPr>
          <p:cNvPr id="8" name="">
            <a:extLst xmlns:a="http://schemas.openxmlformats.org/drawingml/2006/main">
              <a:ext uri="{FF2B5EF4-FFF2-40B4-BE49-F238E27FC236}">
                <a16:creationId xmlns:a16="http://schemas.microsoft.com/office/drawing/2014/main" id="{1C0EDAC5-76FF-4783-9A49-FB86EFED66F7}"/>
              </a:ext>
            </a:extLst>
          </p:cNvPr>
          <p:cNvSpPr>
            <a:spLocks xmlns:a="http://schemas.openxmlformats.org/drawingml/2006/main" noGrp="1"/>
          </p:cNvSpPr>
          <p:nvPr/>
        </p:nvSpPr>
        <p:spPr>
          <a:xfrm xmlns:a="http://schemas.openxmlformats.org/drawingml/2006/main">
            <a:off x="3886200" y="409575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「このページ内を検索」と表示</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将来は日次・トレンド・過去ログを横断</a:t>
            </a:r>
          </a:p>
        </p:txBody>
      </p:sp>
      <p:sp>
        <p:nvSpPr>
          <p:cNvPr id="9" name="">
            <a:extLst xmlns:a="http://schemas.openxmlformats.org/drawingml/2006/main">
              <a:ext uri="{FF2B5EF4-FFF2-40B4-BE49-F238E27FC236}">
                <a16:creationId xmlns:a16="http://schemas.microsoft.com/office/drawing/2014/main" id="{5CFE8045-927D-46CF-B339-55EF5911AF83}"/>
              </a:ext>
            </a:extLst>
          </p:cNvPr>
          <p:cNvSpPr>
            <a:spLocks xmlns:a="http://schemas.openxmlformats.org/drawingml/2006/main" noGrp="1"/>
          </p:cNvSpPr>
          <p:nvPr/>
        </p:nvSpPr>
        <p:spPr>
          <a:xfrm xmlns:a="http://schemas.openxmlformats.org/drawingml/2006/main">
            <a:off x="628650" y="504825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読む途中の移動</a:t>
            </a:r>
          </a:p>
        </p:txBody>
      </p:sp>
      <p:sp>
        <p:nvSpPr>
          <p:cNvPr id="10" name="">
            <a:extLst xmlns:a="http://schemas.openxmlformats.org/drawingml/2006/main">
              <a:ext uri="{FF2B5EF4-FFF2-40B4-BE49-F238E27FC236}">
                <a16:creationId xmlns:a16="http://schemas.microsoft.com/office/drawing/2014/main" id="{4D6644D5-F338-45C5-8F26-A71B6B869C0E}"/>
              </a:ext>
            </a:extLst>
          </p:cNvPr>
          <p:cNvSpPr>
            <a:spLocks xmlns:a="http://schemas.openxmlformats.org/drawingml/2006/main" noGrp="1"/>
          </p:cNvSpPr>
          <p:nvPr/>
        </p:nvSpPr>
        <p:spPr>
          <a:xfrm xmlns:a="http://schemas.openxmlformats.org/drawingml/2006/main">
            <a:off x="3886200" y="504825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専門用語から用語集の該当語へ</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当日の見出し一覧から各ニュースへ</a:t>
            </a:r>
          </a:p>
        </p:txBody>
      </p:sp>
    </p:spTree>
    <p:extLst>
      <p:ext uri="{BB962C8B-B14F-4D97-AF65-F5344CB8AC3E}">
        <p14:creationId xmlns:p14="http://schemas.microsoft.com/office/powerpoint/2010/main" val="132380610"/>
      </p:ext>
    </p:extLst>
  </p:cSld>
</p:sld>
</file>

<file path=ppt/slides/slide8.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3CECCA-D832-48FB-8052-C92C99A4F1AB}"/>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共有する記事と、読む場所を指定できる</a:t>
            </a:r>
          </a:p>
        </p:txBody>
      </p:sp>
      <p:sp>
        <p:nvSpPr>
          <p:cNvPr id="2" name="">
            <a:extLst xmlns:a="http://schemas.openxmlformats.org/drawingml/2006/main">
              <a:ext uri="{FF2B5EF4-FFF2-40B4-BE49-F238E27FC236}">
                <a16:creationId xmlns:a16="http://schemas.microsoft.com/office/drawing/2014/main" id="{9C01FDCE-DE1F-4E89-BB84-6BC84D62649F}"/>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改善候補 ⑧共有URL　⑬長文の目次　⑭表記　⑱共有時の表示</a:t>
            </a:r>
          </a:p>
        </p:txBody>
      </p:sp>
      <p:sp>
        <p:nvSpPr>
          <p:cNvPr id="3" name="">
            <a:extLst xmlns:a="http://schemas.openxmlformats.org/drawingml/2006/main">
              <a:ext uri="{FF2B5EF4-FFF2-40B4-BE49-F238E27FC236}">
                <a16:creationId xmlns:a16="http://schemas.microsoft.com/office/drawing/2014/main" id="{08FE0D54-C48C-46A0-8BEC-3DF46D4F87CE}"/>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08</a:t>
            </a:r>
          </a:p>
        </p:txBody>
      </p:sp>
      <p:sp>
        <p:nvSpPr>
          <p:cNvPr id="4" name="">
            <a:extLst xmlns:a="http://schemas.openxmlformats.org/drawingml/2006/main">
              <a:ext uri="{FF2B5EF4-FFF2-40B4-BE49-F238E27FC236}">
                <a16:creationId xmlns:a16="http://schemas.microsoft.com/office/drawing/2014/main" id="{E951E99A-A61A-460F-9D62-84636D11752F}"/>
              </a:ext>
            </a:extLst>
          </p:cNvPr>
          <p:cNvSpPr>
            <a:spLocks xmlns:a="http://schemas.openxmlformats.org/drawingml/2006/main" noGrp="1"/>
          </p:cNvSpPr>
          <p:nvPr/>
        </p:nvSpPr>
        <p:spPr>
          <a:xfrm xmlns:a="http://schemas.openxmlformats.org/drawingml/2006/main">
            <a:off x="6286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共有を分かりやすく</a:t>
            </a:r>
          </a:p>
        </p:txBody>
      </p:sp>
      <p:sp>
        <p:nvSpPr>
          <p:cNvPr id="5" name="">
            <a:extLst xmlns:a="http://schemas.openxmlformats.org/drawingml/2006/main">
              <a:ext uri="{FF2B5EF4-FFF2-40B4-BE49-F238E27FC236}">
                <a16:creationId xmlns:a16="http://schemas.microsoft.com/office/drawing/2014/main" id="{8E039678-658E-4615-A150-BF2C06423BE3}"/>
              </a:ext>
            </a:extLst>
          </p:cNvPr>
          <p:cNvSpPr>
            <a:spLocks xmlns:a="http://schemas.openxmlformats.org/drawingml/2006/main" noGrp="1"/>
          </p:cNvSpPr>
          <p:nvPr/>
        </p:nvSpPr>
        <p:spPr>
          <a:xfrm xmlns:a="http://schemas.openxmlformats.org/drawingml/2006/main">
            <a:off x="6286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特定レポートが直接開くURL</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「リンクをコピー」の操作</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LINEでタイトル・説明・画像を表示</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内部ファイル名を読者向けの言葉へ</a:t>
            </a:r>
          </a:p>
        </p:txBody>
      </p:sp>
      <p:sp>
        <p:nvSpPr>
          <p:cNvPr id="6" name="">
            <a:extLst xmlns:a="http://schemas.openxmlformats.org/drawingml/2006/main">
              <a:ext uri="{FF2B5EF4-FFF2-40B4-BE49-F238E27FC236}">
                <a16:creationId xmlns:a16="http://schemas.microsoft.com/office/drawing/2014/main" id="{0609C3E8-DC16-4CC2-A4F6-7CC7B8C4ABF3}"/>
              </a:ext>
            </a:extLst>
          </p:cNvPr>
          <p:cNvSpPr>
            <a:spLocks xmlns:a="http://schemas.openxmlformats.org/drawingml/2006/main" noGrp="1"/>
          </p:cNvSpPr>
          <p:nvPr/>
        </p:nvSpPr>
        <p:spPr>
          <a:xfrm xmlns:a="http://schemas.openxmlformats.org/drawingml/2006/main">
            <a:off x="6305550" y="216217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E4BE"/>
                </a:solidFill>
                <a:latin typeface="Hiragino Sans"/>
                <a:ea typeface="Hiragino Sans"/>
                <a:cs typeface="Hiragino Sans"/>
              </a:defRPr>
            </a:pPr>
            <a:r>
              <a:rPr sz="2400" b="1">
                <a:solidFill>
                  <a:srgbClr val="34E4BE"/>
                </a:solidFill>
                <a:latin typeface="Hiragino Sans"/>
                <a:ea typeface="Hiragino Sans"/>
                <a:cs typeface="Hiragino Sans"/>
              </a:rPr>
              <a:t>長文を読みやすく</a:t>
            </a:r>
          </a:p>
        </p:txBody>
      </p:sp>
      <p:sp>
        <p:nvSpPr>
          <p:cNvPr id="7" name="">
            <a:extLst xmlns:a="http://schemas.openxmlformats.org/drawingml/2006/main">
              <a:ext uri="{FF2B5EF4-FFF2-40B4-BE49-F238E27FC236}">
                <a16:creationId xmlns:a16="http://schemas.microsoft.com/office/drawing/2014/main" id="{A23E7599-9B1B-4C09-A86C-D47518C5BFFE}"/>
              </a:ext>
            </a:extLst>
          </p:cNvPr>
          <p:cNvSpPr>
            <a:spLocks xmlns:a="http://schemas.openxmlformats.org/drawingml/2006/main" noGrp="1"/>
          </p:cNvSpPr>
          <p:nvPr/>
        </p:nvSpPr>
        <p:spPr>
          <a:xfrm xmlns:a="http://schemas.openxmlformats.org/drawingml/2006/main">
            <a:off x="6305550" y="2924175"/>
            <a:ext cx="52197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冒頭に内容をつかむ3行要約</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章の目次から必要な箇所へ移動</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読了時間の目安を表示</a:t>
            </a:r>
          </a:p>
          <a:p xmlns:a="http://schemas.openxmlformats.org/drawingml/2006/main">
            <a:r>
              <a:t/>
            </a:r>
          </a:p>
          <a:p xmlns:a="http://schemas.openxmlformats.org/drawingml/2006/main">
            <a:pPr>
              <a:defRPr sz="2100" b="0">
                <a:solidFill>
                  <a:srgbClr val="F0F4FA"/>
                </a:solidFill>
                <a:latin typeface="Hiragino Sans"/>
                <a:ea typeface="Hiragino Sans"/>
                <a:cs typeface="Hiragino Sans"/>
              </a:defRPr>
            </a:pPr>
            <a:r>
              <a:rPr sz="2100" b="0">
                <a:solidFill>
                  <a:srgbClr val="F0F4FA"/>
                </a:solidFill>
                <a:latin typeface="Hiragino Sans"/>
                <a:ea typeface="Hiragino Sans"/>
                <a:cs typeface="Hiragino Sans"/>
              </a:rPr>
              <a:t>日付別の共有表示はURL設計も検討</a:t>
            </a:r>
          </a:p>
        </p:txBody>
      </p:sp>
    </p:spTree>
    <p:extLst>
      <p:ext uri="{BB962C8B-B14F-4D97-AF65-F5344CB8AC3E}">
        <p14:creationId xmlns:p14="http://schemas.microsoft.com/office/powerpoint/2010/main" val="658970355"/>
      </p:ext>
    </p:extLst>
  </p:cSld>
</p:sld>
</file>

<file path=ppt/slides/slide9.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C558A9-E616-41D7-97DA-4A2F5E71C931}"/>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品質を保つための運用</a:t>
            </a:r>
          </a:p>
        </p:txBody>
      </p:sp>
      <p:sp>
        <p:nvSpPr>
          <p:cNvPr id="2" name="">
            <a:extLst xmlns:a="http://schemas.openxmlformats.org/drawingml/2006/main">
              <a:ext uri="{FF2B5EF4-FFF2-40B4-BE49-F238E27FC236}">
                <a16:creationId xmlns:a16="http://schemas.microsoft.com/office/drawing/2014/main" id="{7D7C6417-05CE-4198-8F3D-C2D464E9566F}"/>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改善候補 ⑮⑯⑰⑲⑳㉑㉒</a:t>
            </a:r>
          </a:p>
        </p:txBody>
      </p:sp>
      <p:sp>
        <p:nvSpPr>
          <p:cNvPr id="3" name="">
            <a:extLst xmlns:a="http://schemas.openxmlformats.org/drawingml/2006/main">
              <a:ext uri="{FF2B5EF4-FFF2-40B4-BE49-F238E27FC236}">
                <a16:creationId xmlns:a16="http://schemas.microsoft.com/office/drawing/2014/main" id="{B77FFB44-DA37-42D8-965C-1CF364E491CF}"/>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09</a:t>
            </a:r>
          </a:p>
        </p:txBody>
      </p:sp>
      <p:sp>
        <p:nvSpPr>
          <p:cNvPr id="4" name="">
            <a:extLst xmlns:a="http://schemas.openxmlformats.org/drawingml/2006/main">
              <a:ext uri="{FF2B5EF4-FFF2-40B4-BE49-F238E27FC236}">
                <a16:creationId xmlns:a16="http://schemas.microsoft.com/office/drawing/2014/main" id="{E2C143D0-24E8-4526-8B4C-827723A75D14}"/>
              </a:ext>
            </a:extLst>
          </p:cNvPr>
          <p:cNvSpPr>
            <a:spLocks xmlns:a="http://schemas.openxmlformats.org/drawingml/2006/main" noGrp="1"/>
          </p:cNvSpPr>
          <p:nvPr/>
        </p:nvSpPr>
        <p:spPr>
          <a:xfrm xmlns:a="http://schemas.openxmlformats.org/drawingml/2006/main">
            <a:off x="628650" y="21336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利用環境への配慮</a:t>
            </a:r>
          </a:p>
        </p:txBody>
      </p:sp>
      <p:sp>
        <p:nvSpPr>
          <p:cNvPr id="5" name="">
            <a:extLst xmlns:a="http://schemas.openxmlformats.org/drawingml/2006/main">
              <a:ext uri="{FF2B5EF4-FFF2-40B4-BE49-F238E27FC236}">
                <a16:creationId xmlns:a16="http://schemas.microsoft.com/office/drawing/2014/main" id="{B52814B4-9D8E-4602-B243-67F7A9E56BD0}"/>
              </a:ext>
            </a:extLst>
          </p:cNvPr>
          <p:cNvSpPr>
            <a:spLocks xmlns:a="http://schemas.openxmlformats.org/drawingml/2006/main" noGrp="1"/>
          </p:cNvSpPr>
          <p:nvPr/>
        </p:nvSpPr>
        <p:spPr>
          <a:xfrm xmlns:a="http://schemas.openxmlformats.org/drawingml/2006/main">
            <a:off x="3886200" y="21336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端末の「動きを減らす」設定に対応</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読み上げ、検索結果通知、本文への移動を整備</a:t>
            </a:r>
          </a:p>
        </p:txBody>
      </p:sp>
      <p:sp>
        <p:nvSpPr>
          <p:cNvPr id="6" name="">
            <a:extLst xmlns:a="http://schemas.openxmlformats.org/drawingml/2006/main">
              <a:ext uri="{FF2B5EF4-FFF2-40B4-BE49-F238E27FC236}">
                <a16:creationId xmlns:a16="http://schemas.microsoft.com/office/drawing/2014/main" id="{9E259AD5-4719-4577-927C-5CBC8E8E41B7}"/>
              </a:ext>
            </a:extLst>
          </p:cNvPr>
          <p:cNvSpPr>
            <a:spLocks xmlns:a="http://schemas.openxmlformats.org/drawingml/2006/main" noGrp="1"/>
          </p:cNvSpPr>
          <p:nvPr/>
        </p:nvSpPr>
        <p:spPr>
          <a:xfrm xmlns:a="http://schemas.openxmlformats.org/drawingml/2006/main">
            <a:off x="628650" y="33528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情報の管理</a:t>
            </a:r>
          </a:p>
        </p:txBody>
      </p:sp>
      <p:sp>
        <p:nvSpPr>
          <p:cNvPr id="7" name="">
            <a:extLst xmlns:a="http://schemas.openxmlformats.org/drawingml/2006/main">
              <a:ext uri="{FF2B5EF4-FFF2-40B4-BE49-F238E27FC236}">
                <a16:creationId xmlns:a16="http://schemas.microsoft.com/office/drawing/2014/main" id="{EE461007-6F87-4439-A96C-4A4C87187E98}"/>
              </a:ext>
            </a:extLst>
          </p:cNvPr>
          <p:cNvSpPr>
            <a:spLocks xmlns:a="http://schemas.openxmlformats.org/drawingml/2006/main" noGrp="1"/>
          </p:cNvSpPr>
          <p:nvPr/>
        </p:nvSpPr>
        <p:spPr>
          <a:xfrm xmlns:a="http://schemas.openxmlformats.org/drawingml/2006/main">
            <a:off x="3886200" y="33528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最終更新と読み込み失敗を表示</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AI要約の方針・訂正理由・重複確認を整備</a:t>
            </a:r>
          </a:p>
        </p:txBody>
      </p:sp>
      <p:sp>
        <p:nvSpPr>
          <p:cNvPr id="8" name="">
            <a:extLst xmlns:a="http://schemas.openxmlformats.org/drawingml/2006/main">
              <a:ext uri="{FF2B5EF4-FFF2-40B4-BE49-F238E27FC236}">
                <a16:creationId xmlns:a16="http://schemas.microsoft.com/office/drawing/2014/main" id="{010DE10A-3782-46C1-9AA8-544B07BB41A8}"/>
              </a:ext>
            </a:extLst>
          </p:cNvPr>
          <p:cNvSpPr>
            <a:spLocks xmlns:a="http://schemas.openxmlformats.org/drawingml/2006/main" noGrp="1"/>
          </p:cNvSpPr>
          <p:nvPr/>
        </p:nvSpPr>
        <p:spPr>
          <a:xfrm xmlns:a="http://schemas.openxmlformats.org/drawingml/2006/main">
            <a:off x="628650" y="45720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表示と動作の確認</a:t>
            </a:r>
          </a:p>
        </p:txBody>
      </p:sp>
      <p:sp>
        <p:nvSpPr>
          <p:cNvPr id="9" name="">
            <a:extLst xmlns:a="http://schemas.openxmlformats.org/drawingml/2006/main">
              <a:ext uri="{FF2B5EF4-FFF2-40B4-BE49-F238E27FC236}">
                <a16:creationId xmlns:a16="http://schemas.microsoft.com/office/drawing/2014/main" id="{F94D74FA-839B-4D32-93DF-5C848E595E3F}"/>
              </a:ext>
            </a:extLst>
          </p:cNvPr>
          <p:cNvSpPr>
            <a:spLocks xmlns:a="http://schemas.openxmlformats.org/drawingml/2006/main" noGrp="1"/>
          </p:cNvSpPr>
          <p:nvPr/>
        </p:nvSpPr>
        <p:spPr>
          <a:xfrm xmlns:a="http://schemas.openxmlformats.org/drawingml/2006/main">
            <a:off x="3886200" y="45720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データ量と実際の表示速度を継続確認</a:t>
            </a:r>
          </a:p>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古いテスト期待値を整理し、操作を確かめる</a:t>
            </a:r>
          </a:p>
        </p:txBody>
      </p:sp>
      <p:sp>
        <p:nvSpPr>
          <p:cNvPr id="10" name="">
            <a:extLst xmlns:a="http://schemas.openxmlformats.org/drawingml/2006/main">
              <a:ext uri="{FF2B5EF4-FFF2-40B4-BE49-F238E27FC236}">
                <a16:creationId xmlns:a16="http://schemas.microsoft.com/office/drawing/2014/main" id="{786A8F4B-778F-4A77-94CE-85CE0F814D72}"/>
              </a:ext>
            </a:extLst>
          </p:cNvPr>
          <p:cNvSpPr>
            <a:spLocks xmlns:a="http://schemas.openxmlformats.org/drawingml/2006/main" noGrp="1"/>
          </p:cNvSpPr>
          <p:nvPr/>
        </p:nvSpPr>
        <p:spPr>
          <a:xfrm xmlns:a="http://schemas.openxmlformats.org/drawingml/2006/main">
            <a:off x="628650" y="601980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6C2D5"/>
                </a:solidFill>
                <a:latin typeface="Hiragino Sans"/>
                <a:ea typeface="Hiragino Sans"/>
                <a:cs typeface="Hiragino Sans"/>
              </a:defRPr>
            </a:pPr>
            <a:r>
              <a:rPr sz="1350" b="0">
                <a:solidFill>
                  <a:srgbClr val="B6C2D5"/>
                </a:solidFill>
                <a:latin typeface="Hiragino Sans"/>
                <a:ea typeface="Hiragino Sans"/>
                <a:cs typeface="Hiragino Sans"/>
              </a:rPr>
              <a:t>9月18日の記録：日次データ約460KB（未圧縮）／ JavaScriptテスト54件成功・1件失敗</a:t>
            </a:r>
          </a:p>
        </p:txBody>
      </p:sp>
    </p:spTree>
    <p:extLst>
      <p:ext uri="{BB962C8B-B14F-4D97-AF65-F5344CB8AC3E}">
        <p14:creationId xmlns:p14="http://schemas.microsoft.com/office/powerpoint/2010/main" val="1673609606"/>
      </p:ext>
    </p:extLst>
  </p:cSld>
</p:sld>
</file>

<file path=ppt/slides/slide10.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1F6D81-6DBE-4C99-9ED5-6B42135D09A8}"/>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現時点では優先しない変更</a:t>
            </a:r>
          </a:p>
        </p:txBody>
      </p:sp>
      <p:sp>
        <p:nvSpPr>
          <p:cNvPr id="2" name="">
            <a:extLst xmlns:a="http://schemas.openxmlformats.org/drawingml/2006/main">
              <a:ext uri="{FF2B5EF4-FFF2-40B4-BE49-F238E27FC236}">
                <a16:creationId xmlns:a16="http://schemas.microsoft.com/office/drawing/2014/main" id="{5CB791DA-B0CA-4BF3-BE60-49CC8486D0BF}"/>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過去の判断も踏まえ、必要性が明確になった段階で再検討します。</a:t>
            </a:r>
          </a:p>
        </p:txBody>
      </p:sp>
      <p:sp>
        <p:nvSpPr>
          <p:cNvPr id="3" name="">
            <a:extLst xmlns:a="http://schemas.openxmlformats.org/drawingml/2006/main">
              <a:ext uri="{FF2B5EF4-FFF2-40B4-BE49-F238E27FC236}">
                <a16:creationId xmlns:a16="http://schemas.microsoft.com/office/drawing/2014/main" id="{E8E23358-AD01-4EE6-BE60-91449EB5D19B}"/>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10</a:t>
            </a:r>
          </a:p>
        </p:txBody>
      </p:sp>
      <p:sp>
        <p:nvSpPr>
          <p:cNvPr id="4" name="">
            <a:extLst xmlns:a="http://schemas.openxmlformats.org/drawingml/2006/main">
              <a:ext uri="{FF2B5EF4-FFF2-40B4-BE49-F238E27FC236}">
                <a16:creationId xmlns:a16="http://schemas.microsoft.com/office/drawing/2014/main" id="{068ECE71-3338-4FA6-A74B-1BC79A69502C}"/>
              </a:ext>
            </a:extLst>
          </p:cNvPr>
          <p:cNvSpPr>
            <a:spLocks xmlns:a="http://schemas.openxmlformats.org/drawingml/2006/main" noGrp="1"/>
          </p:cNvSpPr>
          <p:nvPr/>
        </p:nvSpPr>
        <p:spPr>
          <a:xfrm xmlns:a="http://schemas.openxmlformats.org/drawingml/2006/main">
            <a:off x="628650" y="20955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ナビの全面統一</a:t>
            </a:r>
          </a:p>
        </p:txBody>
      </p:sp>
      <p:sp>
        <p:nvSpPr>
          <p:cNvPr id="5" name="">
            <a:extLst xmlns:a="http://schemas.openxmlformats.org/drawingml/2006/main">
              <a:ext uri="{FF2B5EF4-FFF2-40B4-BE49-F238E27FC236}">
                <a16:creationId xmlns:a16="http://schemas.microsoft.com/office/drawing/2014/main" id="{37C54DB0-1BF1-4F06-9631-BD51D64D71DF}"/>
              </a:ext>
            </a:extLst>
          </p:cNvPr>
          <p:cNvSpPr>
            <a:spLocks xmlns:a="http://schemas.openxmlformats.org/drawingml/2006/main" noGrp="1"/>
          </p:cNvSpPr>
          <p:nvPr/>
        </p:nvSpPr>
        <p:spPr>
          <a:xfrm xmlns:a="http://schemas.openxmlformats.org/drawingml/2006/main">
            <a:off x="3886200" y="20955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全ページへのリンクを並べるとスマホが混雑</a:t>
            </a:r>
          </a:p>
        </p:txBody>
      </p:sp>
      <p:sp>
        <p:nvSpPr>
          <p:cNvPr id="6" name="">
            <a:extLst xmlns:a="http://schemas.openxmlformats.org/drawingml/2006/main">
              <a:ext uri="{FF2B5EF4-FFF2-40B4-BE49-F238E27FC236}">
                <a16:creationId xmlns:a16="http://schemas.microsoft.com/office/drawing/2014/main" id="{8FAD8497-DE61-4CE0-BFB7-31C9B834EFBF}"/>
              </a:ext>
            </a:extLst>
          </p:cNvPr>
          <p:cNvSpPr>
            <a:spLocks xmlns:a="http://schemas.openxmlformats.org/drawingml/2006/main" noGrp="1"/>
          </p:cNvSpPr>
          <p:nvPr/>
        </p:nvSpPr>
        <p:spPr>
          <a:xfrm xmlns:a="http://schemas.openxmlformats.org/drawingml/2006/main">
            <a:off x="628650" y="30861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外観の全面変更</a:t>
            </a:r>
          </a:p>
        </p:txBody>
      </p:sp>
      <p:sp>
        <p:nvSpPr>
          <p:cNvPr id="7" name="">
            <a:extLst xmlns:a="http://schemas.openxmlformats.org/drawingml/2006/main">
              <a:ext uri="{FF2B5EF4-FFF2-40B4-BE49-F238E27FC236}">
                <a16:creationId xmlns:a16="http://schemas.microsoft.com/office/drawing/2014/main" id="{CDAEA064-B2A7-4B3E-92F1-FCEB7254F7D7}"/>
              </a:ext>
            </a:extLst>
          </p:cNvPr>
          <p:cNvSpPr>
            <a:spLocks xmlns:a="http://schemas.openxmlformats.org/drawingml/2006/main" noGrp="1"/>
          </p:cNvSpPr>
          <p:nvPr/>
        </p:nvSpPr>
        <p:spPr>
          <a:xfrm xmlns:a="http://schemas.openxmlformats.org/drawingml/2006/main">
            <a:off x="3886200" y="30861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明朝化、年表の作り直し、ネオンの撤去は保留</a:t>
            </a:r>
          </a:p>
        </p:txBody>
      </p:sp>
      <p:sp>
        <p:nvSpPr>
          <p:cNvPr id="8" name="">
            <a:extLst xmlns:a="http://schemas.openxmlformats.org/drawingml/2006/main">
              <a:ext uri="{FF2B5EF4-FFF2-40B4-BE49-F238E27FC236}">
                <a16:creationId xmlns:a16="http://schemas.microsoft.com/office/drawing/2014/main" id="{2F53CCF8-49C7-42F6-B592-321DAA691216}"/>
              </a:ext>
            </a:extLst>
          </p:cNvPr>
          <p:cNvSpPr>
            <a:spLocks xmlns:a="http://schemas.openxmlformats.org/drawingml/2006/main" noGrp="1"/>
          </p:cNvSpPr>
          <p:nvPr/>
        </p:nvSpPr>
        <p:spPr>
          <a:xfrm xmlns:a="http://schemas.openxmlformats.org/drawingml/2006/main">
            <a:off x="628650" y="40767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基盤の大きな変更</a:t>
            </a:r>
          </a:p>
        </p:txBody>
      </p:sp>
      <p:sp>
        <p:nvSpPr>
          <p:cNvPr id="9" name="">
            <a:extLst xmlns:a="http://schemas.openxmlformats.org/drawingml/2006/main">
              <a:ext uri="{FF2B5EF4-FFF2-40B4-BE49-F238E27FC236}">
                <a16:creationId xmlns:a16="http://schemas.microsoft.com/office/drawing/2014/main" id="{793E2DA1-5410-4D3D-8B75-908990BC1CB6}"/>
              </a:ext>
            </a:extLst>
          </p:cNvPr>
          <p:cNvSpPr>
            <a:spLocks xmlns:a="http://schemas.openxmlformats.org/drawingml/2006/main" noGrp="1"/>
          </p:cNvSpPr>
          <p:nvPr/>
        </p:nvSpPr>
        <p:spPr>
          <a:xfrm xmlns:a="http://schemas.openxmlformats.org/drawingml/2006/main">
            <a:off x="3886200" y="40767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共通CSS化やフレームワーク移行は後回し</a:t>
            </a:r>
          </a:p>
        </p:txBody>
      </p:sp>
      <p:sp>
        <p:nvSpPr>
          <p:cNvPr id="10" name="">
            <a:extLst xmlns:a="http://schemas.openxmlformats.org/drawingml/2006/main">
              <a:ext uri="{FF2B5EF4-FFF2-40B4-BE49-F238E27FC236}">
                <a16:creationId xmlns:a16="http://schemas.microsoft.com/office/drawing/2014/main" id="{35ABC6A4-4893-4288-BB76-8C2A96BE4622}"/>
              </a:ext>
            </a:extLst>
          </p:cNvPr>
          <p:cNvSpPr>
            <a:spLocks xmlns:a="http://schemas.openxmlformats.org/drawingml/2006/main" noGrp="1"/>
          </p:cNvSpPr>
          <p:nvPr/>
        </p:nvSpPr>
        <p:spPr>
          <a:xfrm xmlns:a="http://schemas.openxmlformats.org/drawingml/2006/main">
            <a:off x="628650" y="50673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E4BE"/>
                </a:solidFill>
                <a:latin typeface="Hiragino Sans"/>
                <a:ea typeface="Hiragino Sans"/>
                <a:cs typeface="Hiragino Sans"/>
              </a:defRPr>
            </a:pPr>
            <a:r>
              <a:rPr sz="2175" b="1">
                <a:solidFill>
                  <a:srgbClr val="34E4BE"/>
                </a:solidFill>
                <a:latin typeface="Hiragino Sans"/>
                <a:ea typeface="Hiragino Sans"/>
                <a:cs typeface="Hiragino Sans"/>
              </a:rPr>
              <a:t>機能・集客の拡張</a:t>
            </a:r>
          </a:p>
        </p:txBody>
      </p:sp>
      <p:sp>
        <p:nvSpPr>
          <p:cNvPr id="11" name="">
            <a:extLst xmlns:a="http://schemas.openxmlformats.org/drawingml/2006/main">
              <a:ext uri="{FF2B5EF4-FFF2-40B4-BE49-F238E27FC236}">
                <a16:creationId xmlns:a16="http://schemas.microsoft.com/office/drawing/2014/main" id="{63FD16B5-935A-419B-A721-6A8749308B0A}"/>
              </a:ext>
            </a:extLst>
          </p:cNvPr>
          <p:cNvSpPr>
            <a:spLocks xmlns:a="http://schemas.openxmlformats.org/drawingml/2006/main" noGrp="1"/>
          </p:cNvSpPr>
          <p:nvPr/>
        </p:nvSpPr>
        <p:spPr>
          <a:xfrm xmlns:a="http://schemas.openxmlformats.org/drawingml/2006/main">
            <a:off x="3886200" y="5067300"/>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A"/>
                </a:solidFill>
                <a:latin typeface="Hiragino Sans"/>
                <a:ea typeface="Hiragino Sans"/>
                <a:cs typeface="Hiragino Sans"/>
              </a:defRPr>
            </a:pPr>
            <a:r>
              <a:rPr sz="2025" b="0">
                <a:solidFill>
                  <a:srgbClr val="F0F4FA"/>
                </a:solidFill>
                <a:latin typeface="Hiragino Sans"/>
                <a:ea typeface="Hiragino Sans"/>
                <a:cs typeface="Hiragino Sans"/>
              </a:rPr>
              <a:t>大規模SEO、ログイン、クラウド同期は利用状況次第</a:t>
            </a:r>
          </a:p>
        </p:txBody>
      </p:sp>
    </p:spTree>
    <p:extLst>
      <p:ext uri="{BB962C8B-B14F-4D97-AF65-F5344CB8AC3E}">
        <p14:creationId xmlns:p14="http://schemas.microsoft.com/office/powerpoint/2010/main" val="799481557"/>
      </p:ext>
    </p:extLst>
  </p:cSld>
</p:sld>
</file>

<file path=ppt/slides/slide11.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165716-7DB7-42FA-8759-B0A3D89F53F3}"/>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推奨する着手順</a:t>
            </a:r>
          </a:p>
        </p:txBody>
      </p:sp>
      <p:sp>
        <p:nvSpPr>
          <p:cNvPr id="2" name="">
            <a:extLst xmlns:a="http://schemas.openxmlformats.org/drawingml/2006/main">
              <a:ext uri="{FF2B5EF4-FFF2-40B4-BE49-F238E27FC236}">
                <a16:creationId xmlns:a16="http://schemas.microsoft.com/office/drawing/2014/main" id="{CD6AFDA5-4B41-4CE9-A6CA-7C89055359A4}"/>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各項目の必要性を確認し、1項目ずつ改善する進め方を想定します。</a:t>
            </a:r>
          </a:p>
        </p:txBody>
      </p:sp>
      <p:sp>
        <p:nvSpPr>
          <p:cNvPr id="3" name="">
            <a:extLst xmlns:a="http://schemas.openxmlformats.org/drawingml/2006/main">
              <a:ext uri="{FF2B5EF4-FFF2-40B4-BE49-F238E27FC236}">
                <a16:creationId xmlns:a16="http://schemas.microsoft.com/office/drawing/2014/main" id="{269A6959-5CF5-4DBA-9943-656A82D85CA8}"/>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11</a:t>
            </a:r>
          </a:p>
        </p:txBody>
      </p:sp>
      <p:graphicFrame>
        <p:nvGraphicFramePr>
          <p:cNvPr id="9" name=""/>
          <p:cNvGraphicFramePr/>
          <p:nvPr/>
        </p:nvGraphicFramePr>
        <p:xfrm>
          <a:off xmlns:a="http://schemas.openxmlformats.org/drawingml/2006/main" x="609600" y="2047875"/>
          <a:ext xmlns:a="http://schemas.openxmlformats.org/drawingml/2006/main" cx="10972800" cy="3810000"/>
        </p:xfrm>
        <a:graphic xmlns:a="http://schemas.openxmlformats.org/drawingml/2006/main">
          <a:graphicData uri="http://schemas.openxmlformats.org/drawingml/2006/table">
            <a:tbl>
              <a:tblPr/>
              <a:tblGrid>
                <a:gridCol w="762000"/>
                <a:gridCol w="3048000"/>
                <a:gridCol w="7162800"/>
              </a:tblGrid>
              <a:tr h="635000">
                <a:tc>
                  <a:txBody>
                    <a:bodyPr>
                      <a:noAutofit/>
                    </a:bodyPr>
                    <a:lstStyle/>
                    <a:p>
                      <a:r>
                        <a:rPr sz="1725" b="1">
                          <a:solidFill>
                            <a:srgbClr val="34E4BE"/>
                          </a:solidFill>
                          <a:latin typeface="Hiragino Sans"/>
                          <a:ea typeface="Hiragino Sans"/>
                          <a:cs typeface="Hiragino Sans"/>
                        </a:rPr>
                        <a:t>順序</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取り組み</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改善後の確認ポイント</a:t>
                      </a:r>
                    </a:p>
                  </a:txBody>
                  <a:tcPr marL="91440" marR="91440" marT="45720" marB="45720">
                    <a:solidFill>
                      <a:srgbClr val="183A42"/>
                    </a:solidFill>
                  </a:tcPr>
                </a:tc>
              </a:tr>
              <a:tr h="635000">
                <a:tc>
                  <a:txBody>
                    <a:bodyPr>
                      <a:noAutofit/>
                    </a:bodyPr>
                    <a:lstStyle/>
                    <a:p>
                      <a:r>
                        <a:rPr sz="1725" b="0">
                          <a:solidFill>
                            <a:srgbClr val="F0F4FA"/>
                          </a:solidFill>
                          <a:latin typeface="Hiragino Sans"/>
                          <a:ea typeface="Hiragino Sans"/>
                          <a:cs typeface="Hiragino Sans"/>
                        </a:rPr>
                        <a:t>1</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根拠と更新時点</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出典へ進める。事実・予測・確認日を区別できる</a:t>
                      </a:r>
                    </a:p>
                  </a:txBody>
                  <a:tcPr marL="91440" marR="91440" marT="45720" marB="45720">
                    <a:solidFill>
                      <a:srgbClr val="080D1B"/>
                    </a:solidFill>
                  </a:tcPr>
                </a:tc>
              </a:tr>
              <a:tr h="635000">
                <a:tc>
                  <a:txBody>
                    <a:bodyPr>
                      <a:noAutofit/>
                    </a:bodyPr>
                    <a:lstStyle/>
                    <a:p>
                      <a:r>
                        <a:rPr sz="1725" b="0">
                          <a:solidFill>
                            <a:srgbClr val="F0F4FA"/>
                          </a:solidFill>
                          <a:latin typeface="Hiragino Sans"/>
                          <a:ea typeface="Hiragino Sans"/>
                          <a:cs typeface="Hiragino Sans"/>
                        </a:rPr>
                        <a:t>2</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スマホ・全文の操作</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用途が分かり、タップとキーボードで操作できる</a:t>
                      </a:r>
                    </a:p>
                  </a:txBody>
                  <a:tcPr marL="91440" marR="91440" marT="45720" marB="45720">
                    <a:solidFill>
                      <a:srgbClr val="080D1B"/>
                    </a:solidFill>
                  </a:tcPr>
                </a:tc>
              </a:tr>
              <a:tr h="635000">
                <a:tc>
                  <a:txBody>
                    <a:bodyPr>
                      <a:noAutofit/>
                    </a:bodyPr>
                    <a:lstStyle/>
                    <a:p>
                      <a:r>
                        <a:rPr sz="1725" b="0">
                          <a:solidFill>
                            <a:srgbClr val="F0F4FA"/>
                          </a:solidFill>
                          <a:latin typeface="Hiragino Sans"/>
                          <a:ea typeface="Hiragino Sans"/>
                          <a:cs typeface="Hiragino Sans"/>
                        </a:rPr>
                        <a:t>3</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日次ニュースの検索</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日付を覚えていなくても目的の記事が見つかる</a:t>
                      </a:r>
                    </a:p>
                  </a:txBody>
                  <a:tcPr marL="91440" marR="91440" marT="45720" marB="45720">
                    <a:solidFill>
                      <a:srgbClr val="080D1B"/>
                    </a:solidFill>
                  </a:tcPr>
                </a:tc>
              </a:tr>
              <a:tr h="635000">
                <a:tc>
                  <a:txBody>
                    <a:bodyPr>
                      <a:noAutofit/>
                    </a:bodyPr>
                    <a:lstStyle/>
                    <a:p>
                      <a:r>
                        <a:rPr sz="1725" b="0">
                          <a:solidFill>
                            <a:srgbClr val="F0F4FA"/>
                          </a:solidFill>
                          <a:latin typeface="Hiragino Sans"/>
                          <a:ea typeface="Hiragino Sans"/>
                          <a:cs typeface="Hiragino Sans"/>
                        </a:rPr>
                        <a:t>4</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記事を共有するURL</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リンクを開いた相手が同じ記事を読める</a:t>
                      </a:r>
                    </a:p>
                  </a:txBody>
                  <a:tcPr marL="91440" marR="91440" marT="45720" marB="45720">
                    <a:solidFill>
                      <a:srgbClr val="080D1B"/>
                    </a:solidFill>
                  </a:tcPr>
                </a:tc>
              </a:tr>
              <a:tr h="635000">
                <a:tc>
                  <a:txBody>
                    <a:bodyPr>
                      <a:noAutofit/>
                    </a:bodyPr>
                    <a:lstStyle/>
                    <a:p>
                      <a:r>
                        <a:rPr sz="1725" b="0">
                          <a:solidFill>
                            <a:srgbClr val="F0F4FA"/>
                          </a:solidFill>
                          <a:latin typeface="Hiragino Sans"/>
                          <a:ea typeface="Hiragino Sans"/>
                          <a:cs typeface="Hiragino Sans"/>
                        </a:rPr>
                        <a:t>5</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本文サイズと冒頭</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本文が読みやすく、必要な内容に早く届く</a:t>
                      </a:r>
                    </a:p>
                  </a:txBody>
                  <a:tcPr marL="91440" marR="91440" marT="45720" marB="45720">
                    <a:solidFill>
                      <a:srgbClr val="080D1B"/>
                    </a:solidFill>
                  </a:tcPr>
                </a:tc>
              </a:tr>
            </a:tbl>
          </a:graphicData>
        </a:graphic>
      </p:graphicFrame>
      <p:sp>
        <p:nvSpPr>
          <p:cNvPr id="5" name="">
            <a:extLst xmlns:a="http://schemas.openxmlformats.org/drawingml/2006/main">
              <a:ext uri="{FF2B5EF4-FFF2-40B4-BE49-F238E27FC236}">
                <a16:creationId xmlns:a16="http://schemas.microsoft.com/office/drawing/2014/main" id="{E4AAB365-2DE6-4F3C-9F38-3E003F074BCD}"/>
              </a:ext>
            </a:extLst>
          </p:cNvPr>
          <p:cNvSpPr>
            <a:spLocks xmlns:a="http://schemas.openxmlformats.org/drawingml/2006/main" noGrp="1"/>
          </p:cNvSpPr>
          <p:nvPr/>
        </p:nvSpPr>
        <p:spPr>
          <a:xfrm xmlns:a="http://schemas.openxmlformats.org/drawingml/2006/main">
            <a:off x="628650" y="60102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E4BE"/>
                </a:solidFill>
                <a:latin typeface="Hiragino Sans"/>
                <a:ea typeface="Hiragino Sans"/>
                <a:cs typeface="Hiragino Sans"/>
              </a:defRPr>
            </a:pPr>
            <a:r>
              <a:rPr sz="1575" b="0">
                <a:solidFill>
                  <a:srgbClr val="34E4BE"/>
                </a:solidFill>
                <a:latin typeface="Hiragino Sans"/>
                <a:ea typeface="Hiragino Sans"/>
                <a:cs typeface="Hiragino Sans"/>
              </a:rPr>
              <a:t>デザインの個性と現在の自動更新の仕組みを生かしながら進めます。</a:t>
            </a:r>
          </a:p>
        </p:txBody>
      </p:sp>
    </p:spTree>
    <p:extLst>
      <p:ext uri="{BB962C8B-B14F-4D97-AF65-F5344CB8AC3E}">
        <p14:creationId xmlns:p14="http://schemas.microsoft.com/office/powerpoint/2010/main" val="349961137"/>
      </p:ext>
    </p:extLst>
  </p:cSld>
</p:sld>
</file>

<file path=ppt/slides/slide12.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2F5B70-4CF0-4515-95D0-993331737380}"/>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改善項目一覧 1／3</a:t>
            </a:r>
          </a:p>
        </p:txBody>
      </p:sp>
      <p:sp>
        <p:nvSpPr>
          <p:cNvPr id="2" name="">
            <a:extLst xmlns:a="http://schemas.openxmlformats.org/drawingml/2006/main">
              <a:ext uri="{FF2B5EF4-FFF2-40B4-BE49-F238E27FC236}">
                <a16:creationId xmlns:a16="http://schemas.microsoft.com/office/drawing/2014/main" id="{984BA59F-67BC-4D41-AA39-F0FD4C0171AC}"/>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元の評価の番号を維持しています。①〜⑤は最優先です。</a:t>
            </a:r>
          </a:p>
        </p:txBody>
      </p:sp>
      <p:sp>
        <p:nvSpPr>
          <p:cNvPr id="3" name="">
            <a:extLst xmlns:a="http://schemas.openxmlformats.org/drawingml/2006/main">
              <a:ext uri="{FF2B5EF4-FFF2-40B4-BE49-F238E27FC236}">
                <a16:creationId xmlns:a16="http://schemas.microsoft.com/office/drawing/2014/main" id="{24BBDE5C-39C8-4E91-8D01-1057BA614B82}"/>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12</a:t>
            </a:r>
          </a:p>
        </p:txBody>
      </p:sp>
      <p:graphicFrame>
        <p:nvGraphicFramePr>
          <p:cNvPr id="8" name=""/>
          <p:cNvGraphicFramePr/>
          <p:nvPr/>
        </p:nvGraphicFramePr>
        <p:xfrm>
          <a:off xmlns:a="http://schemas.openxmlformats.org/drawingml/2006/main" x="609600" y="1943100"/>
          <a:ext xmlns:a="http://schemas.openxmlformats.org/drawingml/2006/main" cx="10972800" cy="4267200"/>
        </p:xfrm>
        <a:graphic xmlns:a="http://schemas.openxmlformats.org/drawingml/2006/main">
          <a:graphicData uri="http://schemas.openxmlformats.org/drawingml/2006/table">
            <a:tbl>
              <a:tblPr/>
              <a:tblGrid>
                <a:gridCol w="762000"/>
                <a:gridCol w="3190875"/>
                <a:gridCol w="7019925"/>
              </a:tblGrid>
              <a:tr h="533400">
                <a:tc>
                  <a:txBody>
                    <a:bodyPr>
                      <a:noAutofit/>
                    </a:bodyPr>
                    <a:lstStyle/>
                    <a:p>
                      <a:r>
                        <a:rPr sz="1725" b="1">
                          <a:solidFill>
                            <a:srgbClr val="34E4BE"/>
                          </a:solidFill>
                          <a:latin typeface="Hiragino Sans"/>
                          <a:ea typeface="Hiragino Sans"/>
                          <a:cs typeface="Hiragino Sans"/>
                        </a:rPr>
                        <a:t>番号</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項目</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具体的な対応</a:t>
                      </a:r>
                    </a:p>
                  </a:txBody>
                  <a:tcPr marL="91440" marR="91440" marT="45720" marB="45720">
                    <a:solidFill>
                      <a:srgbClr val="183A42"/>
                    </a:solidFill>
                  </a:tcPr>
                </a:tc>
              </a:tr>
              <a:tr h="533400">
                <a:tc>
                  <a:txBody>
                    <a:bodyPr>
                      <a:noAutofit/>
                    </a:bodyPr>
                    <a:lstStyle/>
                    <a:p>
                      <a:r>
                        <a:rPr sz="1725" b="0">
                          <a:solidFill>
                            <a:srgbClr val="F0F4FA"/>
                          </a:solidFill>
                          <a:latin typeface="Hiragino Sans"/>
                          <a:ea typeface="Hiragino Sans"/>
                          <a:cs typeface="Hiragino Sans"/>
                        </a:rPr>
                        <a:t>①</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根拠の追跡</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一次資料へのリンクと参考資料一覧</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②</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事実・予測・解釈</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種別、数値の対象、調査時点の明示</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③</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更新時点</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ページの更新日とカードの確認日</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④</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スマホの音声操作</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視聴済みラベルとタップ範囲の改善</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⑤</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全文のキーボード操作</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フォーカスの移動・閉じ込め・復帰</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⑥</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日次ニュース検索</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企業名・技術名で過去記事を検索</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⑦</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検索範囲</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ページ内検索の明示と横断検索の検討</a:t>
                      </a:r>
                    </a:p>
                  </a:txBody>
                  <a:tcPr marL="91440" marR="91440" marT="45720" marB="45720">
                    <a:solidFill>
                      <a:srgbClr val="080D1B"/>
                    </a:solidFill>
                  </a:tcPr>
                </a:tc>
              </a:tr>
            </a:tbl>
          </a:graphicData>
        </a:graphic>
      </p:graphicFrame>
    </p:spTree>
    <p:extLst>
      <p:ext uri="{BB962C8B-B14F-4D97-AF65-F5344CB8AC3E}">
        <p14:creationId xmlns:p14="http://schemas.microsoft.com/office/powerpoint/2010/main" val="1889991062"/>
      </p:ext>
    </p:extLst>
  </p:cSld>
</p:sld>
</file>

<file path=ppt/slides/slide13.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7909AA-CD53-4FF4-8402-B1284D03B838}"/>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改善項目一覧 2／3</a:t>
            </a:r>
          </a:p>
        </p:txBody>
      </p:sp>
      <p:sp>
        <p:nvSpPr>
          <p:cNvPr id="2" name="">
            <a:extLst xmlns:a="http://schemas.openxmlformats.org/drawingml/2006/main">
              <a:ext uri="{FF2B5EF4-FFF2-40B4-BE49-F238E27FC236}">
                <a16:creationId xmlns:a16="http://schemas.microsoft.com/office/drawing/2014/main" id="{37764877-0538-4A65-A762-042FB584A608}"/>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⑧〜⑭は、共有・検索・読書の使いやすさに関する改善です。</a:t>
            </a:r>
          </a:p>
        </p:txBody>
      </p:sp>
      <p:sp>
        <p:nvSpPr>
          <p:cNvPr id="3" name="">
            <a:extLst xmlns:a="http://schemas.openxmlformats.org/drawingml/2006/main">
              <a:ext uri="{FF2B5EF4-FFF2-40B4-BE49-F238E27FC236}">
                <a16:creationId xmlns:a16="http://schemas.microsoft.com/office/drawing/2014/main" id="{D6AAF2B1-1367-4D12-8AE3-AF4249A0E969}"/>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13</a:t>
            </a:r>
          </a:p>
        </p:txBody>
      </p:sp>
      <p:graphicFrame>
        <p:nvGraphicFramePr>
          <p:cNvPr id="8" name=""/>
          <p:cNvGraphicFramePr/>
          <p:nvPr/>
        </p:nvGraphicFramePr>
        <p:xfrm>
          <a:off xmlns:a="http://schemas.openxmlformats.org/drawingml/2006/main" x="609600" y="1943100"/>
          <a:ext xmlns:a="http://schemas.openxmlformats.org/drawingml/2006/main" cx="10972800" cy="4267200"/>
        </p:xfrm>
        <a:graphic xmlns:a="http://schemas.openxmlformats.org/drawingml/2006/main">
          <a:graphicData uri="http://schemas.openxmlformats.org/drawingml/2006/table">
            <a:tbl>
              <a:tblPr/>
              <a:tblGrid>
                <a:gridCol w="762000"/>
                <a:gridCol w="3190875"/>
                <a:gridCol w="7019925"/>
              </a:tblGrid>
              <a:tr h="533400">
                <a:tc>
                  <a:txBody>
                    <a:bodyPr>
                      <a:noAutofit/>
                    </a:bodyPr>
                    <a:lstStyle/>
                    <a:p>
                      <a:r>
                        <a:rPr sz="1725" b="1">
                          <a:solidFill>
                            <a:srgbClr val="34E4BE"/>
                          </a:solidFill>
                          <a:latin typeface="Hiragino Sans"/>
                          <a:ea typeface="Hiragino Sans"/>
                          <a:cs typeface="Hiragino Sans"/>
                        </a:rPr>
                        <a:t>番号</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項目</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具体的な対応</a:t>
                      </a:r>
                    </a:p>
                  </a:txBody>
                  <a:tcPr marL="91440" marR="91440" marT="45720" marB="45720">
                    <a:solidFill>
                      <a:srgbClr val="183A42"/>
                    </a:solidFill>
                  </a:tcPr>
                </a:tc>
              </a:tr>
              <a:tr h="533400">
                <a:tc>
                  <a:txBody>
                    <a:bodyPr>
                      <a:noAutofit/>
                    </a:bodyPr>
                    <a:lstStyle/>
                    <a:p>
                      <a:r>
                        <a:rPr sz="1725" b="0">
                          <a:solidFill>
                            <a:srgbClr val="F0F4FA"/>
                          </a:solidFill>
                          <a:latin typeface="Hiragino Sans"/>
                          <a:ea typeface="Hiragino Sans"/>
                          <a:cs typeface="Hiragino Sans"/>
                        </a:rPr>
                        <a:t>⑧</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記事・レポート共有</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直接開けるURLとリンクのコピー</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⑨</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用語へのリンク</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記事中の用語から該当する解説へ</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⑩</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当日の見出し一覧</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全体を把握し、記事へ移動</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⑪</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スマホの本文サイズ</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15〜16pxを候補に行間と余白も調整</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⑫</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本文までの距離</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冒頭説明・カテゴリ・カレンダーを簡潔に</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⑬</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長いレポート</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3行要約、章の目次、読了時間</a:t>
                      </a:r>
                    </a:p>
                  </a:txBody>
                  <a:tcPr marL="91440" marR="91440" marT="45720" marB="45720">
                    <a:solidFill>
                      <a:srgbClr val="080D1B"/>
                    </a:solidFill>
                  </a:tcPr>
                </a:tc>
              </a:tr>
              <a:tr h="533400">
                <a:tc>
                  <a:txBody>
                    <a:bodyPr>
                      <a:noAutofit/>
                    </a:bodyPr>
                    <a:lstStyle/>
                    <a:p>
                      <a:r>
                        <a:rPr sz="1725" b="0">
                          <a:solidFill>
                            <a:srgbClr val="F0F4FA"/>
                          </a:solidFill>
                          <a:latin typeface="Hiragino Sans"/>
                          <a:ea typeface="Hiragino Sans"/>
                          <a:cs typeface="Hiragino Sans"/>
                        </a:rPr>
                        <a:t>⑭</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読者向けの表記</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内部パスやファイル名の露出を整理</a:t>
                      </a:r>
                    </a:p>
                  </a:txBody>
                  <a:tcPr marL="91440" marR="91440" marT="45720" marB="45720">
                    <a:solidFill>
                      <a:srgbClr val="080D1B"/>
                    </a:solidFill>
                  </a:tcPr>
                </a:tc>
              </a:tr>
            </a:tbl>
          </a:graphicData>
        </a:graphic>
      </p:graphicFrame>
    </p:spTree>
    <p:extLst>
      <p:ext uri="{BB962C8B-B14F-4D97-AF65-F5344CB8AC3E}">
        <p14:creationId xmlns:p14="http://schemas.microsoft.com/office/powerpoint/2010/main" val="966659515"/>
      </p:ext>
    </p:extLst>
  </p:cSld>
</p:sld>
</file>

<file path=ppt/slides/slide14.xml><?xml version="1.0" encoding="utf-8"?>
<p:sld xmlns:p="http://schemas.openxmlformats.org/presentationml/2006/main">
  <p:cSld>
    <p:bg>
      <p:bgPr>
        <a:solidFill xmlns:a="http://schemas.openxmlformats.org/drawingml/2006/main">
          <a:srgbClr val="080D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5F1A94-581F-4062-9733-88432C30AA5F}"/>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A"/>
                </a:solidFill>
                <a:latin typeface="Hiragino Sans"/>
                <a:ea typeface="Hiragino Sans"/>
                <a:cs typeface="Hiragino Sans"/>
              </a:defRPr>
            </a:pPr>
            <a:r>
              <a:rPr sz="3150" b="1">
                <a:solidFill>
                  <a:srgbClr val="F0F4FA"/>
                </a:solidFill>
                <a:latin typeface="Hiragino Sans"/>
                <a:ea typeface="Hiragino Sans"/>
                <a:cs typeface="Hiragino Sans"/>
              </a:rPr>
              <a:t>改善項目一覧 3／3</a:t>
            </a:r>
          </a:p>
        </p:txBody>
      </p:sp>
      <p:sp>
        <p:nvSpPr>
          <p:cNvPr id="2" name="">
            <a:extLst xmlns:a="http://schemas.openxmlformats.org/drawingml/2006/main">
              <a:ext uri="{FF2B5EF4-FFF2-40B4-BE49-F238E27FC236}">
                <a16:creationId xmlns:a16="http://schemas.microsoft.com/office/drawing/2014/main" id="{8E155CED-3CC1-4300-8F2B-C80F4DFB25CC}"/>
              </a:ext>
            </a:extLst>
          </p:cNvPr>
          <p:cNvSpPr>
            <a:spLocks xmlns:a="http://schemas.openxmlformats.org/drawingml/2006/main" noGrp="1"/>
          </p:cNvSpPr>
          <p:nvPr/>
        </p:nvSpPr>
        <p:spPr>
          <a:xfrm xmlns:a="http://schemas.openxmlformats.org/drawingml/2006/main">
            <a:off x="628650" y="12858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6C2D5"/>
                </a:solidFill>
                <a:latin typeface="Hiragino Sans"/>
                <a:ea typeface="Hiragino Sans"/>
                <a:cs typeface="Hiragino Sans"/>
              </a:defRPr>
            </a:pPr>
            <a:r>
              <a:rPr sz="1800" b="0">
                <a:solidFill>
                  <a:srgbClr val="B6C2D5"/>
                </a:solidFill>
                <a:latin typeface="Hiragino Sans"/>
                <a:ea typeface="Hiragino Sans"/>
                <a:cs typeface="Hiragino Sans"/>
              </a:rPr>
              <a:t>⑮〜㉒は、品質・共有表示・運用を継続的に整える項目です。</a:t>
            </a:r>
          </a:p>
        </p:txBody>
      </p:sp>
      <p:sp>
        <p:nvSpPr>
          <p:cNvPr id="3" name="">
            <a:extLst xmlns:a="http://schemas.openxmlformats.org/drawingml/2006/main">
              <a:ext uri="{FF2B5EF4-FFF2-40B4-BE49-F238E27FC236}">
                <a16:creationId xmlns:a16="http://schemas.microsoft.com/office/drawing/2014/main" id="{E17FDC72-D946-4D5F-A97E-58B654D68A34}"/>
              </a:ext>
            </a:extLst>
          </p:cNvPr>
          <p:cNvSpPr>
            <a:spLocks xmlns:a="http://schemas.openxmlformats.org/drawingml/2006/main" noGrp="1"/>
          </p:cNvSpPr>
          <p:nvPr/>
        </p:nvSpPr>
        <p:spPr>
          <a:xfrm xmlns:a="http://schemas.openxmlformats.org/drawingml/2006/main">
            <a:off x="11144250" y="63912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6C2D5"/>
                </a:solidFill>
                <a:latin typeface="Hiragino Sans"/>
                <a:ea typeface="Hiragino Sans"/>
                <a:cs typeface="Hiragino Sans"/>
              </a:defRPr>
            </a:pPr>
            <a:r>
              <a:rPr sz="1200" b="0">
                <a:solidFill>
                  <a:srgbClr val="B6C2D5"/>
                </a:solidFill>
                <a:latin typeface="Hiragino Sans"/>
                <a:ea typeface="Hiragino Sans"/>
                <a:cs typeface="Hiragino Sans"/>
              </a:rPr>
              <a:t>14</a:t>
            </a:r>
          </a:p>
        </p:txBody>
      </p:sp>
      <p:graphicFrame>
        <p:nvGraphicFramePr>
          <p:cNvPr id="8" name=""/>
          <p:cNvGraphicFramePr/>
          <p:nvPr/>
        </p:nvGraphicFramePr>
        <p:xfrm>
          <a:off xmlns:a="http://schemas.openxmlformats.org/drawingml/2006/main" x="609600" y="1905000"/>
          <a:ext xmlns:a="http://schemas.openxmlformats.org/drawingml/2006/main" cx="10972800" cy="4371975"/>
        </p:xfrm>
        <a:graphic xmlns:a="http://schemas.openxmlformats.org/drawingml/2006/main">
          <a:graphicData uri="http://schemas.openxmlformats.org/drawingml/2006/table">
            <a:tbl>
              <a:tblPr/>
              <a:tblGrid>
                <a:gridCol w="762000"/>
                <a:gridCol w="3190875"/>
                <a:gridCol w="7019925"/>
              </a:tblGrid>
              <a:tr h="485775">
                <a:tc>
                  <a:txBody>
                    <a:bodyPr>
                      <a:noAutofit/>
                    </a:bodyPr>
                    <a:lstStyle/>
                    <a:p>
                      <a:r>
                        <a:rPr sz="1725" b="1">
                          <a:solidFill>
                            <a:srgbClr val="34E4BE"/>
                          </a:solidFill>
                          <a:latin typeface="Hiragino Sans"/>
                          <a:ea typeface="Hiragino Sans"/>
                          <a:cs typeface="Hiragino Sans"/>
                        </a:rPr>
                        <a:t>番号</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項目</a:t>
                      </a:r>
                    </a:p>
                  </a:txBody>
                  <a:tcPr marL="91440" marR="91440" marT="45720" marB="45720">
                    <a:solidFill>
                      <a:srgbClr val="183A42"/>
                    </a:solidFill>
                  </a:tcPr>
                </a:tc>
                <a:tc>
                  <a:txBody>
                    <a:bodyPr>
                      <a:noAutofit/>
                    </a:bodyPr>
                    <a:lstStyle/>
                    <a:p>
                      <a:r>
                        <a:rPr sz="1725" b="1">
                          <a:solidFill>
                            <a:srgbClr val="34E4BE"/>
                          </a:solidFill>
                          <a:latin typeface="Hiragino Sans"/>
                          <a:ea typeface="Hiragino Sans"/>
                          <a:cs typeface="Hiragino Sans"/>
                        </a:rPr>
                        <a:t>具体的な対応</a:t>
                      </a:r>
                    </a:p>
                  </a:txBody>
                  <a:tcPr marL="91440" marR="91440" marT="45720" marB="45720">
                    <a:solidFill>
                      <a:srgbClr val="183A42"/>
                    </a:solidFill>
                  </a:tcPr>
                </a:tc>
              </a:tr>
              <a:tr h="485775">
                <a:tc>
                  <a:txBody>
                    <a:bodyPr>
                      <a:noAutofit/>
                    </a:bodyPr>
                    <a:lstStyle/>
                    <a:p>
                      <a:r>
                        <a:rPr sz="1725" b="0">
                          <a:solidFill>
                            <a:srgbClr val="F0F4FA"/>
                          </a:solidFill>
                          <a:latin typeface="Hiragino Sans"/>
                          <a:ea typeface="Hiragino Sans"/>
                          <a:cs typeface="Hiragino Sans"/>
                        </a:rPr>
                        <a:t>⑮</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動きを減らす設定</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端末設定に合わせて演出を停止</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⑯</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読み上げ対応</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本文領域、検索結果通知、全文の名前</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⑰</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更新・読み込み失敗</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最終更新日時と再試行の案内</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⑱</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共有時の表示</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OGPでタイトル・説明・画像を設定</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⑲</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編集方針</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AI要約、選定基準、確認範囲、連絡先</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⑳</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訂正と重複</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再掲載・ページ間の食い違いを確認</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㉑</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読み込み量</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日次データとレポート先読みを計測</a:t>
                      </a:r>
                    </a:p>
                  </a:txBody>
                  <a:tcPr marL="91440" marR="91440" marT="45720" marB="45720">
                    <a:solidFill>
                      <a:srgbClr val="080D1B"/>
                    </a:solidFill>
                  </a:tcPr>
                </a:tc>
              </a:tr>
              <a:tr h="485775">
                <a:tc>
                  <a:txBody>
                    <a:bodyPr>
                      <a:noAutofit/>
                    </a:bodyPr>
                    <a:lstStyle/>
                    <a:p>
                      <a:r>
                        <a:rPr sz="1725" b="0">
                          <a:solidFill>
                            <a:srgbClr val="F0F4FA"/>
                          </a:solidFill>
                          <a:latin typeface="Hiragino Sans"/>
                          <a:ea typeface="Hiragino Sans"/>
                          <a:cs typeface="Hiragino Sans"/>
                        </a:rPr>
                        <a:t>㉒</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操作を確認するテスト</a:t>
                      </a:r>
                    </a:p>
                  </a:txBody>
                  <a:tcPr marL="91440" marR="91440" marT="45720" marB="45720">
                    <a:solidFill>
                      <a:srgbClr val="080D1B"/>
                    </a:solidFill>
                  </a:tcPr>
                </a:tc>
                <a:tc>
                  <a:txBody>
                    <a:bodyPr>
                      <a:noAutofit/>
                    </a:bodyPr>
                    <a:lstStyle/>
                    <a:p>
                      <a:r>
                        <a:rPr sz="1725" b="0">
                          <a:solidFill>
                            <a:srgbClr val="F0F4FA"/>
                          </a:solidFill>
                          <a:latin typeface="Hiragino Sans"/>
                          <a:ea typeface="Hiragino Sans"/>
                          <a:cs typeface="Hiragino Sans"/>
                        </a:rPr>
                        <a:t>既知の失敗整理と主要操作の確認</a:t>
                      </a:r>
                    </a:p>
                  </a:txBody>
                  <a:tcPr marL="91440" marR="91440" marT="45720" marB="45720">
                    <a:solidFill>
                      <a:srgbClr val="080D1B"/>
                    </a:solidFill>
                  </a:tcPr>
                </a:tc>
              </a:tr>
            </a:tbl>
          </a:graphicData>
        </a:graphic>
      </p:graphicFrame>
    </p:spTree>
    <p:extLst>
      <p:ext uri="{BB962C8B-B14F-4D97-AF65-F5344CB8AC3E}">
        <p14:creationId xmlns:p14="http://schemas.microsoft.com/office/powerpoint/2010/main" val="2016477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2026-09-20T14:49:55.2680000Z</dcterms:created>
  <dcterms:modified xsi:type="dcterms:W3CDTF">2026-09-20T14:49:55.2680000Z</dcterms:modified>
</coreProperties>
</file>